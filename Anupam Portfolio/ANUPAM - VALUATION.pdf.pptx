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aven Pro" panose="020B0604020202020204" charset="0"/>
      <p:regular r:id="rId15"/>
    </p:embeddedFont>
    <p:embeddedFont>
      <p:font typeface="Maven Pro Bold" panose="020B0604020202020204" charset="0"/>
      <p:regular r:id="rId16"/>
    </p:embeddedFont>
    <p:embeddedFont>
      <p:font typeface="Montserrat" panose="00000500000000000000" pitchFamily="2" charset="0"/>
      <p:regular r:id="rId17"/>
    </p:embeddedFont>
    <p:embeddedFont>
      <p:font typeface="Montserrat Bold" panose="020B0604020202020204" charset="0"/>
      <p:regular r:id="rId18"/>
    </p:embeddedFont>
    <p:embeddedFont>
      <p:font typeface="Playfair Display" panose="000005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22" autoAdjust="0"/>
  </p:normalViewPr>
  <p:slideViewPr>
    <p:cSldViewPr>
      <p:cViewPr varScale="1">
        <p:scale>
          <a:sx n="52" d="100"/>
          <a:sy n="52" d="100"/>
        </p:scale>
        <p:origin x="94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.pn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1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-166425" y="-166125"/>
            <a:ext cx="6877050" cy="1721850"/>
            <a:chOff x="0" y="0"/>
            <a:chExt cx="9169400" cy="229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69400" cy="2295779"/>
            </a:xfrm>
            <a:custGeom>
              <a:avLst/>
              <a:gdLst/>
              <a:ahLst/>
              <a:cxnLst/>
              <a:rect l="l" t="t" r="r" b="b"/>
              <a:pathLst>
                <a:path w="9169400" h="2295779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048838" y="8321518"/>
            <a:ext cx="7238864" cy="1965248"/>
          </a:xfrm>
          <a:custGeom>
            <a:avLst/>
            <a:gdLst/>
            <a:ahLst/>
            <a:cxnLst/>
            <a:rect l="l" t="t" r="r" b="b"/>
            <a:pathLst>
              <a:path w="7238864" h="1965248">
                <a:moveTo>
                  <a:pt x="0" y="0"/>
                </a:moveTo>
                <a:lnTo>
                  <a:pt x="7238864" y="0"/>
                </a:lnTo>
                <a:lnTo>
                  <a:pt x="7238864" y="1965248"/>
                </a:lnTo>
                <a:lnTo>
                  <a:pt x="0" y="196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rot="5384444">
            <a:off x="1315740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84444">
            <a:off x="13309115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84444">
            <a:off x="1346082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4444">
            <a:off x="1361253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4444">
            <a:off x="1391596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4444">
            <a:off x="1421938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84444">
            <a:off x="1452280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84444">
            <a:off x="13764249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1406767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14371095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14674519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4444">
            <a:off x="14826229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84444">
            <a:off x="1497794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84444">
            <a:off x="1512965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-1260174" y="3718576"/>
            <a:ext cx="5787174" cy="6568474"/>
          </a:xfrm>
          <a:custGeom>
            <a:avLst/>
            <a:gdLst/>
            <a:ahLst/>
            <a:cxnLst/>
            <a:rect l="l" t="t" r="r" b="b"/>
            <a:pathLst>
              <a:path w="5787174" h="6568474">
                <a:moveTo>
                  <a:pt x="0" y="0"/>
                </a:moveTo>
                <a:lnTo>
                  <a:pt x="5787174" y="0"/>
                </a:lnTo>
                <a:lnTo>
                  <a:pt x="5787174" y="6568474"/>
                </a:lnTo>
                <a:lnTo>
                  <a:pt x="0" y="65684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39500" y="-3357200"/>
            <a:ext cx="7513750" cy="5576150"/>
          </a:xfrm>
          <a:custGeom>
            <a:avLst/>
            <a:gdLst/>
            <a:ahLst/>
            <a:cxnLst/>
            <a:rect l="l" t="t" r="r" b="b"/>
            <a:pathLst>
              <a:path w="7513750" h="5576150">
                <a:moveTo>
                  <a:pt x="0" y="0"/>
                </a:moveTo>
                <a:lnTo>
                  <a:pt x="7513750" y="0"/>
                </a:lnTo>
                <a:lnTo>
                  <a:pt x="7513750" y="5576150"/>
                </a:lnTo>
                <a:lnTo>
                  <a:pt x="0" y="5576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680223" y="4162488"/>
            <a:ext cx="10927552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“PROJECT 1000: The Hunt For India’s Real Value”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47651" y="6211680"/>
            <a:ext cx="11592698" cy="7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4599">
                <a:solidFill>
                  <a:srgbClr val="00094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Fundamentals Don’t Match Valuations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7741600"/>
            <a:ext cx="4527000" cy="2545450"/>
          </a:xfrm>
          <a:custGeom>
            <a:avLst/>
            <a:gdLst/>
            <a:ahLst/>
            <a:cxnLst/>
            <a:rect l="l" t="t" r="r" b="b"/>
            <a:pathLst>
              <a:path w="4527000" h="2545450">
                <a:moveTo>
                  <a:pt x="0" y="0"/>
                </a:moveTo>
                <a:lnTo>
                  <a:pt x="4527000" y="0"/>
                </a:lnTo>
                <a:lnTo>
                  <a:pt x="4527000" y="2545450"/>
                </a:lnTo>
                <a:lnTo>
                  <a:pt x="0" y="254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83900" y="3114700"/>
            <a:ext cx="4651650" cy="4651650"/>
          </a:xfrm>
          <a:custGeom>
            <a:avLst/>
            <a:gdLst/>
            <a:ahLst/>
            <a:cxnLst/>
            <a:rect l="l" t="t" r="r" b="b"/>
            <a:pathLst>
              <a:path w="4651650" h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905309" y="2820370"/>
            <a:ext cx="8511600" cy="5074734"/>
            <a:chOff x="0" y="0"/>
            <a:chExt cx="11348800" cy="67663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48800" cy="6766312"/>
            </a:xfrm>
            <a:custGeom>
              <a:avLst/>
              <a:gdLst/>
              <a:ahLst/>
              <a:cxnLst/>
              <a:rect l="l" t="t" r="r" b="b"/>
              <a:pathLst>
                <a:path w="11348800" h="6766312">
                  <a:moveTo>
                    <a:pt x="0" y="0"/>
                  </a:moveTo>
                  <a:lnTo>
                    <a:pt x="11348800" y="0"/>
                  </a:lnTo>
                  <a:lnTo>
                    <a:pt x="11348800" y="6766312"/>
                  </a:lnTo>
                  <a:lnTo>
                    <a:pt x="0" y="676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1348800" cy="675678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7280"/>
                </a:lnSpc>
              </a:pPr>
              <a:r>
                <a:rPr lang="en-US" sz="144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Why?</a:t>
              </a:r>
            </a:p>
            <a:p>
              <a:pPr algn="ctr">
                <a:lnSpc>
                  <a:spcPts val="17280"/>
                </a:lnSpc>
              </a:pPr>
              <a:endParaRPr lang="en-US" sz="14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96734" y="5893750"/>
            <a:ext cx="832875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The companies that makes </a:t>
            </a:r>
            <a:r>
              <a:rPr lang="en-US" sz="30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headlines</a:t>
            </a: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weren’t making cash.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And the ones </a:t>
            </a:r>
            <a:r>
              <a:rPr lang="en-US" sz="30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making cash</a:t>
            </a: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? No one was talking about them..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437750" y="1781700"/>
            <a:ext cx="3765000" cy="426000"/>
            <a:chOff x="0" y="0"/>
            <a:chExt cx="5020000" cy="56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19929" cy="567944"/>
            </a:xfrm>
            <a:custGeom>
              <a:avLst/>
              <a:gdLst/>
              <a:ahLst/>
              <a:cxnLst/>
              <a:rect l="l" t="t" r="r" b="b"/>
              <a:pathLst>
                <a:path w="5019929" h="567944">
                  <a:moveTo>
                    <a:pt x="0" y="283972"/>
                  </a:moveTo>
                  <a:cubicBezTo>
                    <a:pt x="0" y="127127"/>
                    <a:pt x="127127" y="0"/>
                    <a:pt x="283972" y="0"/>
                  </a:cubicBezTo>
                  <a:lnTo>
                    <a:pt x="4735957" y="0"/>
                  </a:lnTo>
                  <a:cubicBezTo>
                    <a:pt x="4892802" y="0"/>
                    <a:pt x="5019929" y="127127"/>
                    <a:pt x="5019929" y="283972"/>
                  </a:cubicBezTo>
                  <a:cubicBezTo>
                    <a:pt x="5019929" y="440817"/>
                    <a:pt x="4892802" y="567944"/>
                    <a:pt x="4735957" y="567944"/>
                  </a:cubicBezTo>
                  <a:lnTo>
                    <a:pt x="283972" y="567944"/>
                  </a:lnTo>
                  <a:cubicBezTo>
                    <a:pt x="127127" y="567944"/>
                    <a:pt x="0" y="440817"/>
                    <a:pt x="0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id="12" name="AutoShape 12"/>
          <p:cNvSpPr/>
          <p:nvPr/>
        </p:nvSpPr>
        <p:spPr>
          <a:xfrm rot="5384444">
            <a:off x="-1646421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84444">
            <a:off x="-1494709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84444">
            <a:off x="-1342997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-1191287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-887863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-584441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4444">
            <a:off x="-281017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84444">
            <a:off x="-1039575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84444">
            <a:off x="-736151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84444">
            <a:off x="-432729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84444">
            <a:off x="-129305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84444">
            <a:off x="22405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84444">
            <a:off x="174117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84444">
            <a:off x="325829" y="1994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Freeform 26"/>
          <p:cNvSpPr/>
          <p:nvPr/>
        </p:nvSpPr>
        <p:spPr>
          <a:xfrm>
            <a:off x="5812076" y="8673326"/>
            <a:ext cx="3770550" cy="3768500"/>
          </a:xfrm>
          <a:custGeom>
            <a:avLst/>
            <a:gdLst/>
            <a:ahLst/>
            <a:cxnLst/>
            <a:rect l="l" t="t" r="r" b="b"/>
            <a:pathLst>
              <a:path w="3770550" h="376850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548000" y="-49646"/>
            <a:ext cx="7740000" cy="2101296"/>
          </a:xfrm>
          <a:custGeom>
            <a:avLst/>
            <a:gdLst/>
            <a:ahLst/>
            <a:cxnLst/>
            <a:rect l="l" t="t" r="r" b="b"/>
            <a:pathLst>
              <a:path w="7740000" h="2101296">
                <a:moveTo>
                  <a:pt x="0" y="0"/>
                </a:moveTo>
                <a:lnTo>
                  <a:pt x="7740000" y="0"/>
                </a:lnTo>
                <a:lnTo>
                  <a:pt x="7740000" y="2101296"/>
                </a:lnTo>
                <a:lnTo>
                  <a:pt x="0" y="21012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1749925" y="8663825"/>
            <a:ext cx="6877050" cy="1721850"/>
            <a:chOff x="0" y="0"/>
            <a:chExt cx="9169400" cy="2295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69400" cy="2295779"/>
            </a:xfrm>
            <a:custGeom>
              <a:avLst/>
              <a:gdLst/>
              <a:ahLst/>
              <a:cxnLst/>
              <a:rect l="l" t="t" r="r" b="b"/>
              <a:pathLst>
                <a:path w="9169400" h="2295779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386050" y="9207976"/>
            <a:ext cx="4651650" cy="4651650"/>
          </a:xfrm>
          <a:custGeom>
            <a:avLst/>
            <a:gdLst/>
            <a:ahLst/>
            <a:cxnLst/>
            <a:rect l="l" t="t" r="r" b="b"/>
            <a:pathLst>
              <a:path w="4651650" h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05700" y="-24"/>
            <a:ext cx="19293700" cy="10287024"/>
          </a:xfrm>
          <a:custGeom>
            <a:avLst/>
            <a:gdLst/>
            <a:ahLst/>
            <a:cxnLst/>
            <a:rect l="l" t="t" r="r" b="b"/>
            <a:pathLst>
              <a:path w="19293700" h="10287024">
                <a:moveTo>
                  <a:pt x="0" y="0"/>
                </a:moveTo>
                <a:lnTo>
                  <a:pt x="19293700" y="0"/>
                </a:lnTo>
                <a:lnTo>
                  <a:pt x="19293700" y="10287024"/>
                </a:lnTo>
                <a:lnTo>
                  <a:pt x="0" y="1028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6175" y="1170425"/>
            <a:ext cx="15215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 of The Study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7575" y="3876702"/>
            <a:ext cx="3982950" cy="72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To Seperate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Hype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from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Genuine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68775" y="3636126"/>
            <a:ext cx="3982950" cy="14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Understand why certain Sectors are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loved or ignored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regardless of numbers.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7575" y="2889898"/>
            <a:ext cx="4165800" cy="805800"/>
            <a:chOff x="0" y="0"/>
            <a:chExt cx="5554400" cy="107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54400" cy="1074400"/>
            </a:xfrm>
            <a:custGeom>
              <a:avLst/>
              <a:gdLst/>
              <a:ahLst/>
              <a:cxnLst/>
              <a:rect l="l" t="t" r="r" b="b"/>
              <a:pathLst>
                <a:path w="5554400" h="1074400">
                  <a:moveTo>
                    <a:pt x="0" y="0"/>
                  </a:moveTo>
                  <a:lnTo>
                    <a:pt x="5554400" y="0"/>
                  </a:lnTo>
                  <a:lnTo>
                    <a:pt x="5554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554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Identify True Value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77412" y="2830326"/>
            <a:ext cx="4165800" cy="805800"/>
            <a:chOff x="0" y="0"/>
            <a:chExt cx="5554400" cy="107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54400" cy="1074400"/>
            </a:xfrm>
            <a:custGeom>
              <a:avLst/>
              <a:gdLst/>
              <a:ahLst/>
              <a:cxnLst/>
              <a:rect l="l" t="t" r="r" b="b"/>
              <a:pathLst>
                <a:path w="5554400" h="1074400">
                  <a:moveTo>
                    <a:pt x="0" y="0"/>
                  </a:moveTo>
                  <a:lnTo>
                    <a:pt x="5554400" y="0"/>
                  </a:lnTo>
                  <a:lnTo>
                    <a:pt x="5554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554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Decode Market Bias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36213" y="6904501"/>
            <a:ext cx="3982950" cy="108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Turn the Ratios And Data Into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Clear and Structural Insights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20350" y="6924938"/>
            <a:ext cx="3982950" cy="108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Create a Report that Judges A company on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Quality+Saftey+Valuation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04725" y="6098701"/>
            <a:ext cx="4165800" cy="805800"/>
            <a:chOff x="0" y="0"/>
            <a:chExt cx="5554400" cy="107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54400" cy="1074400"/>
            </a:xfrm>
            <a:custGeom>
              <a:avLst/>
              <a:gdLst/>
              <a:ahLst/>
              <a:cxnLst/>
              <a:rect l="l" t="t" r="r" b="b"/>
              <a:pathLst>
                <a:path w="5554400" h="1074400">
                  <a:moveTo>
                    <a:pt x="0" y="0"/>
                  </a:moveTo>
                  <a:lnTo>
                    <a:pt x="5554400" y="0"/>
                  </a:lnTo>
                  <a:lnTo>
                    <a:pt x="5554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554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Bridge The Gap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0350" y="5532256"/>
            <a:ext cx="4165800" cy="1392682"/>
            <a:chOff x="0" y="0"/>
            <a:chExt cx="5554400" cy="18569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54400" cy="1856909"/>
            </a:xfrm>
            <a:custGeom>
              <a:avLst/>
              <a:gdLst/>
              <a:ahLst/>
              <a:cxnLst/>
              <a:rect l="l" t="t" r="r" b="b"/>
              <a:pathLst>
                <a:path w="5554400" h="1856909">
                  <a:moveTo>
                    <a:pt x="0" y="0"/>
                  </a:moveTo>
                  <a:lnTo>
                    <a:pt x="5554400" y="0"/>
                  </a:lnTo>
                  <a:lnTo>
                    <a:pt x="5554400" y="1856909"/>
                  </a:lnTo>
                  <a:lnTo>
                    <a:pt x="0" y="1856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554400" cy="185690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Rational Model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53375" y="3094801"/>
            <a:ext cx="1777050" cy="1777050"/>
            <a:chOff x="0" y="0"/>
            <a:chExt cx="2369400" cy="2369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69439" cy="2369439"/>
            </a:xfrm>
            <a:custGeom>
              <a:avLst/>
              <a:gdLst/>
              <a:ahLst/>
              <a:cxnLst/>
              <a:rect l="l" t="t" r="r" b="b"/>
              <a:pathLst>
                <a:path w="2369439" h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757575" y="3094801"/>
            <a:ext cx="1777050" cy="1777050"/>
            <a:chOff x="0" y="0"/>
            <a:chExt cx="2369400" cy="2369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69439" cy="2369439"/>
            </a:xfrm>
            <a:custGeom>
              <a:avLst/>
              <a:gdLst/>
              <a:ahLst/>
              <a:cxnLst/>
              <a:rect l="l" t="t" r="r" b="b"/>
              <a:pathLst>
                <a:path w="2369439" h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5753375" y="6496787"/>
            <a:ext cx="1777050" cy="1777050"/>
            <a:chOff x="0" y="0"/>
            <a:chExt cx="2369400" cy="2369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69439" cy="2369439"/>
            </a:xfrm>
            <a:custGeom>
              <a:avLst/>
              <a:gdLst/>
              <a:ahLst/>
              <a:cxnLst/>
              <a:rect l="l" t="t" r="r" b="b"/>
              <a:pathLst>
                <a:path w="2369439" h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757575" y="6496787"/>
            <a:ext cx="1777050" cy="1777050"/>
            <a:chOff x="0" y="0"/>
            <a:chExt cx="2369400" cy="2369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69439" cy="2369439"/>
            </a:xfrm>
            <a:custGeom>
              <a:avLst/>
              <a:gdLst/>
              <a:ahLst/>
              <a:cxnLst/>
              <a:rect l="l" t="t" r="r" b="b"/>
              <a:pathLst>
                <a:path w="2369439" h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255475" y="4817275"/>
            <a:ext cx="1777050" cy="1777050"/>
            <a:chOff x="0" y="0"/>
            <a:chExt cx="2369400" cy="2369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69439" cy="2369439"/>
            </a:xfrm>
            <a:custGeom>
              <a:avLst/>
              <a:gdLst/>
              <a:ahLst/>
              <a:cxnLst/>
              <a:rect l="l" t="t" r="r" b="b"/>
              <a:pathLst>
                <a:path w="2369439" h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id="33" name="AutoShape 33"/>
          <p:cNvSpPr/>
          <p:nvPr/>
        </p:nvSpPr>
        <p:spPr>
          <a:xfrm>
            <a:off x="7404972" y="4405126"/>
            <a:ext cx="1854857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9028172" y="4405126"/>
            <a:ext cx="1854857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>
            <a:off x="7414818" y="6985112"/>
            <a:ext cx="183516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>
            <a:off x="9037918" y="6985000"/>
            <a:ext cx="183516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Freeform 37"/>
          <p:cNvSpPr/>
          <p:nvPr/>
        </p:nvSpPr>
        <p:spPr>
          <a:xfrm>
            <a:off x="6168138" y="7020702"/>
            <a:ext cx="920264" cy="729242"/>
          </a:xfrm>
          <a:custGeom>
            <a:avLst/>
            <a:gdLst/>
            <a:ahLst/>
            <a:cxnLst/>
            <a:rect l="l" t="t" r="r" b="b"/>
            <a:pathLst>
              <a:path w="920264" h="729242">
                <a:moveTo>
                  <a:pt x="0" y="0"/>
                </a:moveTo>
                <a:lnTo>
                  <a:pt x="920264" y="0"/>
                </a:lnTo>
                <a:lnTo>
                  <a:pt x="920264" y="729242"/>
                </a:lnTo>
                <a:lnTo>
                  <a:pt x="0" y="729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167884" y="3727986"/>
            <a:ext cx="920746" cy="510726"/>
          </a:xfrm>
          <a:custGeom>
            <a:avLst/>
            <a:gdLst/>
            <a:ahLst/>
            <a:cxnLst/>
            <a:rect l="l" t="t" r="r" b="b"/>
            <a:pathLst>
              <a:path w="920746" h="510726">
                <a:moveTo>
                  <a:pt x="0" y="0"/>
                </a:moveTo>
                <a:lnTo>
                  <a:pt x="920746" y="0"/>
                </a:lnTo>
                <a:lnTo>
                  <a:pt x="920746" y="510726"/>
                </a:lnTo>
                <a:lnTo>
                  <a:pt x="0" y="5107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256332" y="6924938"/>
            <a:ext cx="744510" cy="920746"/>
          </a:xfrm>
          <a:custGeom>
            <a:avLst/>
            <a:gdLst/>
            <a:ahLst/>
            <a:cxnLst/>
            <a:rect l="l" t="t" r="r" b="b"/>
            <a:pathLst>
              <a:path w="744510" h="920746">
                <a:moveTo>
                  <a:pt x="0" y="0"/>
                </a:moveTo>
                <a:lnTo>
                  <a:pt x="744510" y="0"/>
                </a:lnTo>
                <a:lnTo>
                  <a:pt x="744510" y="920746"/>
                </a:lnTo>
                <a:lnTo>
                  <a:pt x="0" y="920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1168224" y="3522996"/>
            <a:ext cx="920738" cy="920724"/>
          </a:xfrm>
          <a:custGeom>
            <a:avLst/>
            <a:gdLst/>
            <a:ahLst/>
            <a:cxnLst/>
            <a:rect l="l" t="t" r="r" b="b"/>
            <a:pathLst>
              <a:path w="920738" h="920724">
                <a:moveTo>
                  <a:pt x="0" y="0"/>
                </a:moveTo>
                <a:lnTo>
                  <a:pt x="920738" y="0"/>
                </a:lnTo>
                <a:lnTo>
                  <a:pt x="920738" y="920724"/>
                </a:lnTo>
                <a:lnTo>
                  <a:pt x="0" y="9207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8682920" y="5269024"/>
            <a:ext cx="922366" cy="873720"/>
          </a:xfrm>
          <a:custGeom>
            <a:avLst/>
            <a:gdLst/>
            <a:ahLst/>
            <a:cxnLst/>
            <a:rect l="l" t="t" r="r" b="b"/>
            <a:pathLst>
              <a:path w="922366" h="873720">
                <a:moveTo>
                  <a:pt x="0" y="0"/>
                </a:moveTo>
                <a:lnTo>
                  <a:pt x="922366" y="0"/>
                </a:lnTo>
                <a:lnTo>
                  <a:pt x="922366" y="873720"/>
                </a:lnTo>
                <a:lnTo>
                  <a:pt x="0" y="873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0781" y="-75975"/>
            <a:ext cx="19104150" cy="10287000"/>
          </a:xfrm>
          <a:custGeom>
            <a:avLst/>
            <a:gdLst/>
            <a:ahLst/>
            <a:cxnLst/>
            <a:rect l="l" t="t" r="r" b="b"/>
            <a:pathLst>
              <a:path w="19104150" h="10287000">
                <a:moveTo>
                  <a:pt x="0" y="0"/>
                </a:moveTo>
                <a:lnTo>
                  <a:pt x="19104150" y="0"/>
                </a:lnTo>
                <a:lnTo>
                  <a:pt x="19104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81976" y="-2927924"/>
            <a:ext cx="3770550" cy="3768500"/>
          </a:xfrm>
          <a:custGeom>
            <a:avLst/>
            <a:gdLst/>
            <a:ahLst/>
            <a:cxnLst/>
            <a:rect l="l" t="t" r="r" b="b"/>
            <a:pathLst>
              <a:path w="3770550" h="376850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rot="5384444">
            <a:off x="-2054741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84444">
            <a:off x="-1751317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84444">
            <a:off x="-1903029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84444">
            <a:off x="-1599605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4444">
            <a:off x="-1447895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4444">
            <a:off x="-1296183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4444">
            <a:off x="-1144471" y="80500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536175" y="1170425"/>
            <a:ext cx="15215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Ingredients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6175" y="4519042"/>
            <a:ext cx="47161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Collected manually from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Screener and Tickertape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to map a relevant universe.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66978" y="2472238"/>
            <a:ext cx="4899000" cy="1797994"/>
            <a:chOff x="0" y="0"/>
            <a:chExt cx="6532000" cy="23973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32000" cy="2397326"/>
            </a:xfrm>
            <a:custGeom>
              <a:avLst/>
              <a:gdLst/>
              <a:ahLst/>
              <a:cxnLst/>
              <a:rect l="l" t="t" r="r" b="b"/>
              <a:pathLst>
                <a:path w="6532000" h="2397326">
                  <a:moveTo>
                    <a:pt x="0" y="0"/>
                  </a:moveTo>
                  <a:lnTo>
                    <a:pt x="6532000" y="0"/>
                  </a:lnTo>
                  <a:lnTo>
                    <a:pt x="6532000" y="2397326"/>
                  </a:lnTo>
                  <a:lnTo>
                    <a:pt x="0" y="2397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532000" cy="23973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639"/>
                </a:lnSpc>
              </a:pPr>
              <a:r>
                <a:rPr lang="en-US" sz="7199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1000</a:t>
              </a:r>
            </a:p>
            <a:p>
              <a:pPr algn="ctr">
                <a:lnSpc>
                  <a:spcPts val="3600"/>
                </a:lnSpc>
              </a:pPr>
              <a:endParaRPr lang="en-US" sz="71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77370" y="4519042"/>
            <a:ext cx="47161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Designed unique ratios like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ROE-ROCE gap,FCF/PAT &amp; Valuation Gap.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94520" y="2466350"/>
            <a:ext cx="4899000" cy="1441873"/>
            <a:chOff x="0" y="0"/>
            <a:chExt cx="6532000" cy="19224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32000" cy="1922497"/>
            </a:xfrm>
            <a:custGeom>
              <a:avLst/>
              <a:gdLst/>
              <a:ahLst/>
              <a:cxnLst/>
              <a:rect l="l" t="t" r="r" b="b"/>
              <a:pathLst>
                <a:path w="6532000" h="1922497">
                  <a:moveTo>
                    <a:pt x="0" y="0"/>
                  </a:moveTo>
                  <a:lnTo>
                    <a:pt x="6532000" y="0"/>
                  </a:lnTo>
                  <a:lnTo>
                    <a:pt x="6532000" y="1922497"/>
                  </a:lnTo>
                  <a:lnTo>
                    <a:pt x="0" y="1922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532000" cy="192249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15+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222170" y="4471387"/>
            <a:ext cx="4716150" cy="143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Grouped Every firm into sectors and computed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averages 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for better cross-comparison.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943746" y="2136714"/>
            <a:ext cx="4899000" cy="1441873"/>
            <a:chOff x="0" y="0"/>
            <a:chExt cx="6532000" cy="19224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32000" cy="1922497"/>
            </a:xfrm>
            <a:custGeom>
              <a:avLst/>
              <a:gdLst/>
              <a:ahLst/>
              <a:cxnLst/>
              <a:rect l="l" t="t" r="r" b="b"/>
              <a:pathLst>
                <a:path w="6532000" h="1922497">
                  <a:moveTo>
                    <a:pt x="0" y="0"/>
                  </a:moveTo>
                  <a:lnTo>
                    <a:pt x="6532000" y="0"/>
                  </a:lnTo>
                  <a:lnTo>
                    <a:pt x="6532000" y="1922497"/>
                  </a:lnTo>
                  <a:lnTo>
                    <a:pt x="0" y="1922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6532000" cy="192249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30+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880476" y="8075673"/>
            <a:ext cx="47161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Built structured layers-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Ratios,Summary,Risk,Sector Insights.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768288" y="6109895"/>
            <a:ext cx="4899000" cy="1441873"/>
            <a:chOff x="0" y="0"/>
            <a:chExt cx="6532000" cy="19224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32000" cy="1922497"/>
            </a:xfrm>
            <a:custGeom>
              <a:avLst/>
              <a:gdLst/>
              <a:ahLst/>
              <a:cxnLst/>
              <a:rect l="l" t="t" r="r" b="b"/>
              <a:pathLst>
                <a:path w="6532000" h="1922497">
                  <a:moveTo>
                    <a:pt x="0" y="0"/>
                  </a:moveTo>
                  <a:lnTo>
                    <a:pt x="6532000" y="0"/>
                  </a:lnTo>
                  <a:lnTo>
                    <a:pt x="6532000" y="1922497"/>
                  </a:lnTo>
                  <a:lnTo>
                    <a:pt x="0" y="1922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532000" cy="192249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502238" y="8118726"/>
            <a:ext cx="4716150" cy="71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Covered almost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13+metrics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for each company.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10813" y="6290900"/>
            <a:ext cx="4899000" cy="1441873"/>
            <a:chOff x="0" y="0"/>
            <a:chExt cx="6532000" cy="19224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532000" cy="1922497"/>
            </a:xfrm>
            <a:custGeom>
              <a:avLst/>
              <a:gdLst/>
              <a:ahLst/>
              <a:cxnLst/>
              <a:rect l="l" t="t" r="r" b="b"/>
              <a:pathLst>
                <a:path w="6532000" h="1922497">
                  <a:moveTo>
                    <a:pt x="0" y="0"/>
                  </a:moveTo>
                  <a:lnTo>
                    <a:pt x="6532000" y="0"/>
                  </a:lnTo>
                  <a:lnTo>
                    <a:pt x="6532000" y="1922497"/>
                  </a:lnTo>
                  <a:lnTo>
                    <a:pt x="0" y="1922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6532000" cy="192249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10,000+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13785" y="3823657"/>
            <a:ext cx="3160931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LISTED COMPANIES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26866" y="3769117"/>
            <a:ext cx="3034308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RATIOS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62911" y="3588112"/>
            <a:ext cx="3293804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SECTORS ANALYSED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58205" y="7380288"/>
            <a:ext cx="3319165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ANALYTICAL SHEETS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02238" y="7672596"/>
            <a:ext cx="4716150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POINTS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843126" y="4770826"/>
            <a:ext cx="3770550" cy="3768500"/>
          </a:xfrm>
          <a:custGeom>
            <a:avLst/>
            <a:gdLst/>
            <a:ahLst/>
            <a:cxnLst/>
            <a:rect l="l" t="t" r="r" b="b"/>
            <a:pathLst>
              <a:path w="3770550" h="376850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rot="5384444">
            <a:off x="-2932147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84444">
            <a:off x="-2780435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84444">
            <a:off x="-2628723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84444">
            <a:off x="-2477013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84444">
            <a:off x="-2173589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4444">
            <a:off x="-1870167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4444">
            <a:off x="-1566743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4444">
            <a:off x="-2325301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84444">
            <a:off x="-2021877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84444">
            <a:off x="-1718455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-1415031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-1263321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-1111609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4444">
            <a:off x="-959897" y="60115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296382" y="0"/>
            <a:ext cx="18272150" cy="10287026"/>
          </a:xfrm>
          <a:custGeom>
            <a:avLst/>
            <a:gdLst/>
            <a:ahLst/>
            <a:cxnLst/>
            <a:rect l="l" t="t" r="r" b="b"/>
            <a:pathLst>
              <a:path w="18272150" h="10287026">
                <a:moveTo>
                  <a:pt x="0" y="0"/>
                </a:moveTo>
                <a:lnTo>
                  <a:pt x="18272150" y="0"/>
                </a:lnTo>
                <a:lnTo>
                  <a:pt x="18272150" y="10287026"/>
                </a:lnTo>
                <a:lnTo>
                  <a:pt x="0" y="10287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36175" y="1170425"/>
            <a:ext cx="15215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6175" y="4384500"/>
            <a:ext cx="3370950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The Spark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57885" y="4440638"/>
            <a:ext cx="3370950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Building the Universe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44750" y="3604650"/>
            <a:ext cx="3553800" cy="805800"/>
            <a:chOff x="0" y="0"/>
            <a:chExt cx="4738400" cy="107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38400" cy="1074400"/>
            </a:xfrm>
            <a:custGeom>
              <a:avLst/>
              <a:gdLst/>
              <a:ahLst/>
              <a:cxnLst/>
              <a:rect l="l" t="t" r="r" b="b"/>
              <a:pathLst>
                <a:path w="4738400" h="1074400">
                  <a:moveTo>
                    <a:pt x="0" y="0"/>
                  </a:moveTo>
                  <a:lnTo>
                    <a:pt x="4738400" y="0"/>
                  </a:lnTo>
                  <a:lnTo>
                    <a:pt x="4738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738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Observation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84303" y="2904341"/>
            <a:ext cx="3553800" cy="1392682"/>
            <a:chOff x="0" y="0"/>
            <a:chExt cx="4738400" cy="18569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38400" cy="1856909"/>
            </a:xfrm>
            <a:custGeom>
              <a:avLst/>
              <a:gdLst/>
              <a:ahLst/>
              <a:cxnLst/>
              <a:rect l="l" t="t" r="r" b="b"/>
              <a:pathLst>
                <a:path w="4738400" h="1856909">
                  <a:moveTo>
                    <a:pt x="0" y="0"/>
                  </a:moveTo>
                  <a:lnTo>
                    <a:pt x="4738400" y="0"/>
                  </a:lnTo>
                  <a:lnTo>
                    <a:pt x="4738400" y="1856909"/>
                  </a:lnTo>
                  <a:lnTo>
                    <a:pt x="0" y="1856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738400" cy="185690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Gathering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736004" y="4384500"/>
            <a:ext cx="3370950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Sheet Foundation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341056" y="3491223"/>
            <a:ext cx="3553800" cy="805800"/>
            <a:chOff x="0" y="0"/>
            <a:chExt cx="4738400" cy="107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38400" cy="1074400"/>
            </a:xfrm>
            <a:custGeom>
              <a:avLst/>
              <a:gdLst/>
              <a:ahLst/>
              <a:cxnLst/>
              <a:rect l="l" t="t" r="r" b="b"/>
              <a:pathLst>
                <a:path w="4738400" h="1074400">
                  <a:moveTo>
                    <a:pt x="0" y="0"/>
                  </a:moveTo>
                  <a:lnTo>
                    <a:pt x="4738400" y="0"/>
                  </a:lnTo>
                  <a:lnTo>
                    <a:pt x="4738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4738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Structuring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53325" y="8161044"/>
            <a:ext cx="3370950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Benchmarking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22425" y="8121287"/>
            <a:ext cx="3370950" cy="72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Finding Some Hidden Truths.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53325" y="7078500"/>
            <a:ext cx="3553800" cy="805800"/>
            <a:chOff x="0" y="0"/>
            <a:chExt cx="4738400" cy="107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38400" cy="1074400"/>
            </a:xfrm>
            <a:custGeom>
              <a:avLst/>
              <a:gdLst/>
              <a:ahLst/>
              <a:cxnLst/>
              <a:rect l="l" t="t" r="r" b="b"/>
              <a:pathLst>
                <a:path w="4738400" h="1074400">
                  <a:moveTo>
                    <a:pt x="0" y="0"/>
                  </a:moveTo>
                  <a:lnTo>
                    <a:pt x="4738400" y="0"/>
                  </a:lnTo>
                  <a:lnTo>
                    <a:pt x="4738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4738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Sector Mapping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431000" y="7078500"/>
            <a:ext cx="3553800" cy="1082544"/>
            <a:chOff x="0" y="0"/>
            <a:chExt cx="4738400" cy="14433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38400" cy="1443392"/>
            </a:xfrm>
            <a:custGeom>
              <a:avLst/>
              <a:gdLst/>
              <a:ahLst/>
              <a:cxnLst/>
              <a:rect l="l" t="t" r="r" b="b"/>
              <a:pathLst>
                <a:path w="4738400" h="1443392">
                  <a:moveTo>
                    <a:pt x="0" y="0"/>
                  </a:moveTo>
                  <a:lnTo>
                    <a:pt x="4738400" y="0"/>
                  </a:lnTo>
                  <a:lnTo>
                    <a:pt x="4738400" y="1443392"/>
                  </a:lnTo>
                  <a:lnTo>
                    <a:pt x="0" y="1443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738400" cy="14433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Pattern Discovery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523906" y="8003612"/>
            <a:ext cx="3370950" cy="72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Connecting Data To Reality.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41032" y="7121612"/>
            <a:ext cx="3553800" cy="805800"/>
            <a:chOff x="0" y="0"/>
            <a:chExt cx="4738400" cy="107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738400" cy="1074400"/>
            </a:xfrm>
            <a:custGeom>
              <a:avLst/>
              <a:gdLst/>
              <a:ahLst/>
              <a:cxnLst/>
              <a:rect l="l" t="t" r="r" b="b"/>
              <a:pathLst>
                <a:path w="4738400" h="1074400">
                  <a:moveTo>
                    <a:pt x="0" y="0"/>
                  </a:moveTo>
                  <a:lnTo>
                    <a:pt x="4738400" y="0"/>
                  </a:lnTo>
                  <a:lnTo>
                    <a:pt x="47384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47384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Insight Synthesis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3327282" y="4384500"/>
            <a:ext cx="3370950" cy="72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Turning Numbers into Behaviour.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3380631" y="3381837"/>
            <a:ext cx="3553800" cy="1058800"/>
            <a:chOff x="0" y="0"/>
            <a:chExt cx="4738400" cy="141173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38400" cy="1411733"/>
            </a:xfrm>
            <a:custGeom>
              <a:avLst/>
              <a:gdLst/>
              <a:ahLst/>
              <a:cxnLst/>
              <a:rect l="l" t="t" r="r" b="b"/>
              <a:pathLst>
                <a:path w="4738400" h="1411733">
                  <a:moveTo>
                    <a:pt x="0" y="0"/>
                  </a:moveTo>
                  <a:lnTo>
                    <a:pt x="4738400" y="0"/>
                  </a:lnTo>
                  <a:lnTo>
                    <a:pt x="4738400" y="1411733"/>
                  </a:lnTo>
                  <a:lnTo>
                    <a:pt x="0" y="1411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738400" cy="141173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Ratio Computation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536832" y="8121287"/>
            <a:ext cx="3370950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Telling The story.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3289326" y="7078500"/>
            <a:ext cx="3553800" cy="1082544"/>
            <a:chOff x="0" y="0"/>
            <a:chExt cx="4738400" cy="14433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38400" cy="1443392"/>
            </a:xfrm>
            <a:custGeom>
              <a:avLst/>
              <a:gdLst/>
              <a:ahLst/>
              <a:cxnLst/>
              <a:rect l="l" t="t" r="r" b="b"/>
              <a:pathLst>
                <a:path w="4738400" h="1443392">
                  <a:moveTo>
                    <a:pt x="0" y="0"/>
                  </a:moveTo>
                  <a:lnTo>
                    <a:pt x="4738400" y="0"/>
                  </a:lnTo>
                  <a:lnTo>
                    <a:pt x="4738400" y="1443392"/>
                  </a:lnTo>
                  <a:lnTo>
                    <a:pt x="0" y="1443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4738400" cy="144339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Presentation Crafting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918056" y="2805750"/>
            <a:ext cx="607200" cy="607200"/>
            <a:chOff x="0" y="0"/>
            <a:chExt cx="809600" cy="8096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6866206" y="2805750"/>
            <a:ext cx="607200" cy="607200"/>
            <a:chOff x="0" y="0"/>
            <a:chExt cx="809600" cy="809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0814356" y="2805750"/>
            <a:ext cx="607200" cy="607200"/>
            <a:chOff x="0" y="0"/>
            <a:chExt cx="809600" cy="809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4795858" y="2914260"/>
            <a:ext cx="607200" cy="607200"/>
            <a:chOff x="0" y="0"/>
            <a:chExt cx="809600" cy="809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2951408" y="6579810"/>
            <a:ext cx="607200" cy="607200"/>
            <a:chOff x="0" y="0"/>
            <a:chExt cx="809600" cy="8096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6866206" y="6471300"/>
            <a:ext cx="607200" cy="607200"/>
            <a:chOff x="0" y="0"/>
            <a:chExt cx="809600" cy="8096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0814356" y="6471300"/>
            <a:ext cx="607200" cy="607200"/>
            <a:chOff x="0" y="0"/>
            <a:chExt cx="809600" cy="809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4762506" y="6471300"/>
            <a:ext cx="607200" cy="607200"/>
            <a:chOff x="0" y="0"/>
            <a:chExt cx="809600" cy="809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09498" cy="809625"/>
            </a:xfrm>
            <a:custGeom>
              <a:avLst/>
              <a:gdLst/>
              <a:ahLst/>
              <a:cxnLst/>
              <a:rect l="l" t="t" r="r" b="b"/>
              <a:pathLst>
                <a:path w="809498" h="809625">
                  <a:moveTo>
                    <a:pt x="0" y="0"/>
                  </a:move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lnTo>
                    <a:pt x="809498" y="80962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516CEE"/>
            </a:solidFill>
          </p:spPr>
        </p:sp>
      </p:grpSp>
      <p:sp>
        <p:nvSpPr>
          <p:cNvPr id="69" name="AutoShape 69"/>
          <p:cNvSpPr/>
          <p:nvPr/>
        </p:nvSpPr>
        <p:spPr>
          <a:xfrm>
            <a:off x="3515854" y="3109350"/>
            <a:ext cx="335990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" name="AutoShape 70"/>
          <p:cNvSpPr/>
          <p:nvPr/>
        </p:nvSpPr>
        <p:spPr>
          <a:xfrm>
            <a:off x="7463854" y="3109350"/>
            <a:ext cx="335990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" name="AutoShape 71"/>
          <p:cNvSpPr/>
          <p:nvPr/>
        </p:nvSpPr>
        <p:spPr>
          <a:xfrm>
            <a:off x="11421480" y="3109350"/>
            <a:ext cx="3374378" cy="10851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AutoShape 72"/>
          <p:cNvSpPr/>
          <p:nvPr/>
        </p:nvSpPr>
        <p:spPr>
          <a:xfrm flipV="1">
            <a:off x="3558531" y="6774900"/>
            <a:ext cx="3307675" cy="10851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AutoShape 73"/>
          <p:cNvSpPr/>
          <p:nvPr/>
        </p:nvSpPr>
        <p:spPr>
          <a:xfrm>
            <a:off x="7463854" y="6774900"/>
            <a:ext cx="335990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AutoShape 74"/>
          <p:cNvSpPr/>
          <p:nvPr/>
        </p:nvSpPr>
        <p:spPr>
          <a:xfrm>
            <a:off x="11412004" y="6774900"/>
            <a:ext cx="3359904" cy="9525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AutoShape 75"/>
          <p:cNvSpPr/>
          <p:nvPr/>
        </p:nvSpPr>
        <p:spPr>
          <a:xfrm flipH="1">
            <a:off x="2951408" y="3521460"/>
            <a:ext cx="12148050" cy="336195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809974" y="-3572650"/>
            <a:ext cx="14544200" cy="14069575"/>
          </a:xfrm>
          <a:custGeom>
            <a:avLst/>
            <a:gdLst/>
            <a:ahLst/>
            <a:cxnLst/>
            <a:rect l="l" t="t" r="r" b="b"/>
            <a:pathLst>
              <a:path w="14544200" h="14069575">
                <a:moveTo>
                  <a:pt x="0" y="0"/>
                </a:moveTo>
                <a:lnTo>
                  <a:pt x="14544200" y="0"/>
                </a:lnTo>
                <a:lnTo>
                  <a:pt x="14544200" y="14069575"/>
                </a:lnTo>
                <a:lnTo>
                  <a:pt x="0" y="14069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4527000" cy="3742800"/>
          </a:xfrm>
          <a:custGeom>
            <a:avLst/>
            <a:gdLst/>
            <a:ahLst/>
            <a:cxnLst/>
            <a:rect l="l" t="t" r="r" b="b"/>
            <a:pathLst>
              <a:path w="4527000" h="3742800">
                <a:moveTo>
                  <a:pt x="0" y="0"/>
                </a:moveTo>
                <a:lnTo>
                  <a:pt x="4527000" y="0"/>
                </a:lnTo>
                <a:lnTo>
                  <a:pt x="452700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981122" y="3505950"/>
            <a:ext cx="12325800" cy="2745405"/>
            <a:chOff x="0" y="0"/>
            <a:chExt cx="16434400" cy="36605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34400" cy="3660541"/>
            </a:xfrm>
            <a:custGeom>
              <a:avLst/>
              <a:gdLst/>
              <a:ahLst/>
              <a:cxnLst/>
              <a:rect l="l" t="t" r="r" b="b"/>
              <a:pathLst>
                <a:path w="16434400" h="3660541">
                  <a:moveTo>
                    <a:pt x="0" y="0"/>
                  </a:moveTo>
                  <a:lnTo>
                    <a:pt x="16434400" y="0"/>
                  </a:lnTo>
                  <a:lnTo>
                    <a:pt x="16434400" y="3660541"/>
                  </a:lnTo>
                  <a:lnTo>
                    <a:pt x="0" y="36605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6434400" cy="366054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6440"/>
                </a:lnSpc>
              </a:pPr>
              <a:r>
                <a:rPr lang="en-US" sz="137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4,38,00,000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072524" y="6361685"/>
            <a:ext cx="121429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Before analysing companies,it’s important to understand the </a:t>
            </a:r>
            <a:r>
              <a:rPr lang="en-US" sz="30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ocean</a:t>
            </a:r>
            <a:r>
              <a:rPr lang="en-US" sz="30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they swim in.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91000" y="7103400"/>
            <a:ext cx="3597000" cy="3183600"/>
            <a:chOff x="0" y="0"/>
            <a:chExt cx="4796000" cy="4244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96028" cy="4244848"/>
            </a:xfrm>
            <a:custGeom>
              <a:avLst/>
              <a:gdLst/>
              <a:ahLst/>
              <a:cxnLst/>
              <a:rect l="l" t="t" r="r" b="b"/>
              <a:pathLst>
                <a:path w="4796028" h="4244848">
                  <a:moveTo>
                    <a:pt x="4796028" y="0"/>
                  </a:moveTo>
                  <a:lnTo>
                    <a:pt x="2122424" y="0"/>
                  </a:lnTo>
                  <a:cubicBezTo>
                    <a:pt x="950214" y="0"/>
                    <a:pt x="0" y="950214"/>
                    <a:pt x="0" y="2122424"/>
                  </a:cubicBezTo>
                  <a:lnTo>
                    <a:pt x="0" y="4244848"/>
                  </a:lnTo>
                  <a:lnTo>
                    <a:pt x="4796028" y="4244848"/>
                  </a:lnTo>
                  <a:close/>
                </a:path>
              </a:pathLst>
            </a:custGeom>
            <a:solidFill>
              <a:srgbClr val="00094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339150" y="9510900"/>
            <a:ext cx="3765000" cy="426000"/>
            <a:chOff x="0" y="0"/>
            <a:chExt cx="5020000" cy="56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9929" cy="567944"/>
            </a:xfrm>
            <a:custGeom>
              <a:avLst/>
              <a:gdLst/>
              <a:ahLst/>
              <a:cxnLst/>
              <a:rect l="l" t="t" r="r" b="b"/>
              <a:pathLst>
                <a:path w="5019929" h="567944">
                  <a:moveTo>
                    <a:pt x="0" y="283972"/>
                  </a:moveTo>
                  <a:cubicBezTo>
                    <a:pt x="0" y="127127"/>
                    <a:pt x="127127" y="0"/>
                    <a:pt x="283972" y="0"/>
                  </a:cubicBezTo>
                  <a:lnTo>
                    <a:pt x="4735957" y="0"/>
                  </a:lnTo>
                  <a:cubicBezTo>
                    <a:pt x="4892802" y="0"/>
                    <a:pt x="5019929" y="127127"/>
                    <a:pt x="5019929" y="283972"/>
                  </a:cubicBezTo>
                  <a:cubicBezTo>
                    <a:pt x="5019929" y="440817"/>
                    <a:pt x="4892802" y="567944"/>
                    <a:pt x="4735957" y="567944"/>
                  </a:cubicBezTo>
                  <a:lnTo>
                    <a:pt x="283972" y="567944"/>
                  </a:lnTo>
                  <a:cubicBezTo>
                    <a:pt x="127127" y="567944"/>
                    <a:pt x="0" y="440817"/>
                    <a:pt x="0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id="14" name="AutoShape 14"/>
          <p:cNvSpPr/>
          <p:nvPr/>
        </p:nvSpPr>
        <p:spPr>
          <a:xfrm rot="5384444">
            <a:off x="14738203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14889915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15041627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15193337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4444">
            <a:off x="15496761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84444">
            <a:off x="15800183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84444">
            <a:off x="16103607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84444">
            <a:off x="15345049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84444">
            <a:off x="15648473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84444">
            <a:off x="15951895" y="64487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4322782" y="3153465"/>
            <a:ext cx="10031684" cy="35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Scale of Indian Stock Market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1000" y="4777340"/>
            <a:ext cx="1640562" cy="132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9"/>
              </a:lnSpc>
              <a:spcBef>
                <a:spcPct val="0"/>
              </a:spcBef>
            </a:pPr>
            <a:r>
              <a:rPr lang="en-US" sz="87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31698" y="12873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824000" y="0"/>
            <a:ext cx="4901750" cy="10312744"/>
          </a:xfrm>
          <a:custGeom>
            <a:avLst/>
            <a:gdLst/>
            <a:ahLst/>
            <a:cxnLst/>
            <a:rect l="l" t="t" r="r" b="b"/>
            <a:pathLst>
              <a:path w="4901750" h="10312744">
                <a:moveTo>
                  <a:pt x="0" y="0"/>
                </a:moveTo>
                <a:lnTo>
                  <a:pt x="4901750" y="0"/>
                </a:lnTo>
                <a:lnTo>
                  <a:pt x="4901750" y="10312744"/>
                </a:lnTo>
                <a:lnTo>
                  <a:pt x="0" y="10312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356225" y="1854319"/>
            <a:ext cx="10217250" cy="8669006"/>
          </a:xfrm>
          <a:custGeom>
            <a:avLst/>
            <a:gdLst/>
            <a:ahLst/>
            <a:cxnLst/>
            <a:rect l="l" t="t" r="r" b="b"/>
            <a:pathLst>
              <a:path w="10217250" h="8669006">
                <a:moveTo>
                  <a:pt x="0" y="0"/>
                </a:moveTo>
                <a:lnTo>
                  <a:pt x="10217250" y="0"/>
                </a:lnTo>
                <a:lnTo>
                  <a:pt x="10217250" y="8669006"/>
                </a:lnTo>
                <a:lnTo>
                  <a:pt x="0" y="86690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486587" y="4870757"/>
            <a:ext cx="1441200" cy="1441200"/>
            <a:chOff x="0" y="0"/>
            <a:chExt cx="1921600" cy="192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21637" cy="1921637"/>
            </a:xfrm>
            <a:custGeom>
              <a:avLst/>
              <a:gdLst/>
              <a:ahLst/>
              <a:cxnLst/>
              <a:rect l="l" t="t" r="r" b="b"/>
              <a:pathLst>
                <a:path w="1921637" h="1921637">
                  <a:moveTo>
                    <a:pt x="0" y="0"/>
                  </a:moveTo>
                  <a:lnTo>
                    <a:pt x="1041908" y="0"/>
                  </a:lnTo>
                  <a:cubicBezTo>
                    <a:pt x="1527683" y="0"/>
                    <a:pt x="1921637" y="393827"/>
                    <a:pt x="1921637" y="879729"/>
                  </a:cubicBezTo>
                  <a:lnTo>
                    <a:pt x="1921637" y="1921637"/>
                  </a:lnTo>
                  <a:lnTo>
                    <a:pt x="0" y="1921637"/>
                  </a:lnTo>
                  <a:close/>
                </a:path>
              </a:pathLst>
            </a:custGeom>
            <a:solidFill>
              <a:srgbClr val="63DBF5">
                <a:alpha val="47451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921600" cy="191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35%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25785" y="4870757"/>
            <a:ext cx="1441200" cy="1441200"/>
            <a:chOff x="0" y="0"/>
            <a:chExt cx="1921600" cy="192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1510" cy="1921510"/>
            </a:xfrm>
            <a:custGeom>
              <a:avLst/>
              <a:gdLst/>
              <a:ahLst/>
              <a:cxnLst/>
              <a:rect l="l" t="t" r="r" b="b"/>
              <a:pathLst>
                <a:path w="1921510" h="1921510">
                  <a:moveTo>
                    <a:pt x="0" y="0"/>
                  </a:moveTo>
                  <a:lnTo>
                    <a:pt x="960755" y="0"/>
                  </a:lnTo>
                  <a:cubicBezTo>
                    <a:pt x="1491361" y="0"/>
                    <a:pt x="1921510" y="430149"/>
                    <a:pt x="1921510" y="960755"/>
                  </a:cubicBezTo>
                  <a:lnTo>
                    <a:pt x="1921510" y="1921510"/>
                  </a:lnTo>
                  <a:lnTo>
                    <a:pt x="0" y="1921510"/>
                  </a:lnTo>
                  <a:close/>
                </a:path>
              </a:pathLst>
            </a:custGeom>
            <a:solidFill>
              <a:srgbClr val="516CEE">
                <a:alpha val="16078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921600" cy="191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latin typeface="Montserrat Bold"/>
                  <a:ea typeface="Montserrat Bold"/>
                  <a:cs typeface="Montserrat Bold"/>
                  <a:sym typeface="Montserrat Bold"/>
                </a:rPr>
                <a:t>40%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75248" y="4870757"/>
            <a:ext cx="1441200" cy="1441200"/>
            <a:chOff x="0" y="0"/>
            <a:chExt cx="1921600" cy="192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1510" cy="1921510"/>
            </a:xfrm>
            <a:custGeom>
              <a:avLst/>
              <a:gdLst/>
              <a:ahLst/>
              <a:cxnLst/>
              <a:rect l="l" t="t" r="r" b="b"/>
              <a:pathLst>
                <a:path w="1921510" h="1921510">
                  <a:moveTo>
                    <a:pt x="0" y="0"/>
                  </a:moveTo>
                  <a:lnTo>
                    <a:pt x="960755" y="0"/>
                  </a:lnTo>
                  <a:cubicBezTo>
                    <a:pt x="1491361" y="0"/>
                    <a:pt x="1921510" y="430149"/>
                    <a:pt x="1921510" y="960755"/>
                  </a:cubicBezTo>
                  <a:lnTo>
                    <a:pt x="1921510" y="1921510"/>
                  </a:lnTo>
                  <a:lnTo>
                    <a:pt x="0" y="1921510"/>
                  </a:ln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921600" cy="191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latin typeface="Montserrat Bold"/>
                  <a:ea typeface="Montserrat Bold"/>
                  <a:cs typeface="Montserrat Bold"/>
                  <a:sym typeface="Montserrat Bold"/>
                </a:rPr>
                <a:t>25%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89225" y="2965725"/>
            <a:ext cx="11109450" cy="1164450"/>
            <a:chOff x="0" y="0"/>
            <a:chExt cx="14812600" cy="1552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12519" cy="1552702"/>
            </a:xfrm>
            <a:custGeom>
              <a:avLst/>
              <a:gdLst/>
              <a:ahLst/>
              <a:cxnLst/>
              <a:rect l="l" t="t" r="r" b="b"/>
              <a:pathLst>
                <a:path w="14812519" h="1552702">
                  <a:moveTo>
                    <a:pt x="0" y="776351"/>
                  </a:moveTo>
                  <a:cubicBezTo>
                    <a:pt x="0" y="347345"/>
                    <a:pt x="352806" y="0"/>
                    <a:pt x="787654" y="0"/>
                  </a:cubicBezTo>
                  <a:lnTo>
                    <a:pt x="14024865" y="0"/>
                  </a:lnTo>
                  <a:lnTo>
                    <a:pt x="14024865" y="12700"/>
                  </a:lnTo>
                  <a:lnTo>
                    <a:pt x="14024865" y="0"/>
                  </a:lnTo>
                  <a:cubicBezTo>
                    <a:pt x="14459713" y="0"/>
                    <a:pt x="14812519" y="347345"/>
                    <a:pt x="14812519" y="776351"/>
                  </a:cubicBezTo>
                  <a:lnTo>
                    <a:pt x="14799819" y="776351"/>
                  </a:lnTo>
                  <a:lnTo>
                    <a:pt x="14812519" y="776351"/>
                  </a:lnTo>
                  <a:lnTo>
                    <a:pt x="14799819" y="776351"/>
                  </a:lnTo>
                  <a:lnTo>
                    <a:pt x="14812519" y="776351"/>
                  </a:lnTo>
                  <a:cubicBezTo>
                    <a:pt x="14812519" y="1205230"/>
                    <a:pt x="14459713" y="1552702"/>
                    <a:pt x="14024865" y="1552702"/>
                  </a:cubicBezTo>
                  <a:lnTo>
                    <a:pt x="14024865" y="1540002"/>
                  </a:lnTo>
                  <a:lnTo>
                    <a:pt x="14024865" y="1552702"/>
                  </a:lnTo>
                  <a:lnTo>
                    <a:pt x="787654" y="1552702"/>
                  </a:lnTo>
                  <a:lnTo>
                    <a:pt x="787654" y="1540002"/>
                  </a:lnTo>
                  <a:lnTo>
                    <a:pt x="787654" y="1552702"/>
                  </a:lnTo>
                  <a:cubicBezTo>
                    <a:pt x="352806" y="1552575"/>
                    <a:pt x="0" y="1205230"/>
                    <a:pt x="0" y="776351"/>
                  </a:cubicBezTo>
                  <a:lnTo>
                    <a:pt x="12700" y="776351"/>
                  </a:lnTo>
                  <a:lnTo>
                    <a:pt x="0" y="776351"/>
                  </a:lnTo>
                  <a:moveTo>
                    <a:pt x="25400" y="776351"/>
                  </a:moveTo>
                  <a:lnTo>
                    <a:pt x="12700" y="776351"/>
                  </a:lnTo>
                  <a:lnTo>
                    <a:pt x="25400" y="776351"/>
                  </a:lnTo>
                  <a:cubicBezTo>
                    <a:pt x="25400" y="1190879"/>
                    <a:pt x="366522" y="1527302"/>
                    <a:pt x="787654" y="1527302"/>
                  </a:cubicBezTo>
                  <a:lnTo>
                    <a:pt x="14024865" y="1527302"/>
                  </a:lnTo>
                  <a:cubicBezTo>
                    <a:pt x="14445997" y="1527302"/>
                    <a:pt x="14787119" y="1190879"/>
                    <a:pt x="14787119" y="776351"/>
                  </a:cubicBezTo>
                  <a:cubicBezTo>
                    <a:pt x="14787119" y="361823"/>
                    <a:pt x="14446123" y="25400"/>
                    <a:pt x="14024990" y="25400"/>
                  </a:cubicBezTo>
                  <a:lnTo>
                    <a:pt x="787654" y="25400"/>
                  </a:lnTo>
                  <a:lnTo>
                    <a:pt x="787654" y="12700"/>
                  </a:lnTo>
                  <a:lnTo>
                    <a:pt x="787654" y="25400"/>
                  </a:lnTo>
                  <a:cubicBezTo>
                    <a:pt x="366522" y="25400"/>
                    <a:pt x="25400" y="361823"/>
                    <a:pt x="25400" y="776351"/>
                  </a:cubicBez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536175" y="1170425"/>
            <a:ext cx="15215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3 Faces Of Indian Valuation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4996150" y="1588800"/>
            <a:ext cx="1123200" cy="3918000"/>
            <a:chOff x="0" y="0"/>
            <a:chExt cx="1497600" cy="52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97584" cy="5224018"/>
            </a:xfrm>
            <a:custGeom>
              <a:avLst/>
              <a:gdLst/>
              <a:ahLst/>
              <a:cxnLst/>
              <a:rect l="l" t="t" r="r" b="b"/>
              <a:pathLst>
                <a:path w="1497584" h="5224018">
                  <a:moveTo>
                    <a:pt x="748792" y="0"/>
                  </a:moveTo>
                  <a:cubicBezTo>
                    <a:pt x="1162304" y="0"/>
                    <a:pt x="1497584" y="335280"/>
                    <a:pt x="1497584" y="748792"/>
                  </a:cubicBezTo>
                  <a:lnTo>
                    <a:pt x="1497584" y="5224018"/>
                  </a:lnTo>
                  <a:lnTo>
                    <a:pt x="0" y="5224018"/>
                  </a:lnTo>
                  <a:lnTo>
                    <a:pt x="0" y="748792"/>
                  </a:lnTo>
                  <a:cubicBezTo>
                    <a:pt x="0" y="335280"/>
                    <a:pt x="335280" y="0"/>
                    <a:pt x="748792" y="0"/>
                  </a:cubicBezTo>
                  <a:close/>
                </a:path>
              </a:pathLst>
            </a:custGeom>
            <a:solidFill>
              <a:srgbClr val="63DBF5">
                <a:alpha val="47451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634866" y="8008358"/>
            <a:ext cx="4764150" cy="108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These are disciplined sectors-where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cash and consistency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speak louder than hype.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33687" y="6463276"/>
            <a:ext cx="4947000" cy="1392682"/>
            <a:chOff x="0" y="0"/>
            <a:chExt cx="6596000" cy="18569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96000" cy="1856909"/>
            </a:xfrm>
            <a:custGeom>
              <a:avLst/>
              <a:gdLst/>
              <a:ahLst/>
              <a:cxnLst/>
              <a:rect l="l" t="t" r="r" b="b"/>
              <a:pathLst>
                <a:path w="6596000" h="1856909">
                  <a:moveTo>
                    <a:pt x="0" y="0"/>
                  </a:moveTo>
                  <a:lnTo>
                    <a:pt x="6596000" y="0"/>
                  </a:lnTo>
                  <a:lnTo>
                    <a:pt x="6596000" y="1856909"/>
                  </a:lnTo>
                  <a:lnTo>
                    <a:pt x="0" y="1856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6596000" cy="184738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Cash Backed</a:t>
              </a:r>
            </a:p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Compounders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040781" y="7492361"/>
            <a:ext cx="4764150" cy="14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Sectors that looks exciting on slides but fragile in cash flow.Their story dominates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headlines,not balance sheet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95150" y="7587023"/>
            <a:ext cx="4764150" cy="108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These are the market’s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underdogs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-low on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hype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,high on </a:t>
            </a:r>
            <a:r>
              <a:rPr lang="en-US" sz="2400" b="1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cash</a:t>
            </a:r>
            <a:r>
              <a:rPr lang="en-US" sz="24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040781" y="6463276"/>
            <a:ext cx="4947000" cy="805800"/>
            <a:chOff x="0" y="0"/>
            <a:chExt cx="6596000" cy="107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96000" cy="1074400"/>
            </a:xfrm>
            <a:custGeom>
              <a:avLst/>
              <a:gdLst/>
              <a:ahLst/>
              <a:cxnLst/>
              <a:rect l="l" t="t" r="r" b="b"/>
              <a:pathLst>
                <a:path w="6596000" h="1074400">
                  <a:moveTo>
                    <a:pt x="0" y="0"/>
                  </a:moveTo>
                  <a:lnTo>
                    <a:pt x="6596000" y="0"/>
                  </a:lnTo>
                  <a:lnTo>
                    <a:pt x="65960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65960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Pretenders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49731" y="6589761"/>
            <a:ext cx="4947000" cy="805800"/>
            <a:chOff x="0" y="0"/>
            <a:chExt cx="6596000" cy="107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96000" cy="1074400"/>
            </a:xfrm>
            <a:custGeom>
              <a:avLst/>
              <a:gdLst/>
              <a:ahLst/>
              <a:cxnLst/>
              <a:rect l="l" t="t" r="r" b="b"/>
              <a:pathLst>
                <a:path w="6596000" h="1074400">
                  <a:moveTo>
                    <a:pt x="0" y="0"/>
                  </a:moveTo>
                  <a:lnTo>
                    <a:pt x="6596000" y="0"/>
                  </a:lnTo>
                  <a:lnTo>
                    <a:pt x="65960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5960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Sleeper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2806950" y="2227200"/>
            <a:ext cx="1123200" cy="2641200"/>
            <a:chOff x="0" y="0"/>
            <a:chExt cx="1497600" cy="3521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97584" cy="3521583"/>
            </a:xfrm>
            <a:custGeom>
              <a:avLst/>
              <a:gdLst/>
              <a:ahLst/>
              <a:cxnLst/>
              <a:rect l="l" t="t" r="r" b="b"/>
              <a:pathLst>
                <a:path w="1497584" h="3521583">
                  <a:moveTo>
                    <a:pt x="748792" y="0"/>
                  </a:moveTo>
                  <a:cubicBezTo>
                    <a:pt x="1162304" y="0"/>
                    <a:pt x="1497584" y="335280"/>
                    <a:pt x="1497584" y="748792"/>
                  </a:cubicBezTo>
                  <a:lnTo>
                    <a:pt x="1497584" y="3521583"/>
                  </a:lnTo>
                  <a:lnTo>
                    <a:pt x="0" y="3521583"/>
                  </a:lnTo>
                  <a:lnTo>
                    <a:pt x="0" y="748792"/>
                  </a:lnTo>
                  <a:cubicBezTo>
                    <a:pt x="0" y="335280"/>
                    <a:pt x="335280" y="0"/>
                    <a:pt x="748792" y="0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516750" y="2986350"/>
            <a:ext cx="4531200" cy="1123200"/>
            <a:chOff x="0" y="0"/>
            <a:chExt cx="6041600" cy="14976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41644" cy="1497584"/>
            </a:xfrm>
            <a:custGeom>
              <a:avLst/>
              <a:gdLst/>
              <a:ahLst/>
              <a:cxnLst/>
              <a:rect l="l" t="t" r="r" b="b"/>
              <a:pathLst>
                <a:path w="6041644" h="1497584">
                  <a:moveTo>
                    <a:pt x="0" y="0"/>
                  </a:moveTo>
                  <a:lnTo>
                    <a:pt x="6041644" y="0"/>
                  </a:lnTo>
                  <a:lnTo>
                    <a:pt x="6041644" y="1497584"/>
                  </a:lnTo>
                  <a:lnTo>
                    <a:pt x="0" y="1497584"/>
                  </a:lnTo>
                  <a:close/>
                </a:path>
              </a:pathLst>
            </a:custGeom>
            <a:solidFill>
              <a:srgbClr val="006DF5">
                <a:alpha val="16078"/>
              </a:srgbClr>
            </a:solidFill>
          </p:spPr>
        </p:sp>
      </p:grpSp>
      <p:sp>
        <p:nvSpPr>
          <p:cNvPr id="36" name="AutoShape 36"/>
          <p:cNvSpPr/>
          <p:nvPr/>
        </p:nvSpPr>
        <p:spPr>
          <a:xfrm flipV="1">
            <a:off x="4207187" y="4109400"/>
            <a:ext cx="1350563" cy="761357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flipV="1">
            <a:off x="9146385" y="4109538"/>
            <a:ext cx="635965" cy="761219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flipH="1" flipV="1">
            <a:off x="13368550" y="4109388"/>
            <a:ext cx="927298" cy="761369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747752" y="0"/>
            <a:ext cx="4527000" cy="3742800"/>
          </a:xfrm>
          <a:custGeom>
            <a:avLst/>
            <a:gdLst/>
            <a:ahLst/>
            <a:cxnLst/>
            <a:rect l="l" t="t" r="r" b="b"/>
            <a:pathLst>
              <a:path w="4527000" h="3742800">
                <a:moveTo>
                  <a:pt x="0" y="0"/>
                </a:moveTo>
                <a:lnTo>
                  <a:pt x="4527000" y="0"/>
                </a:lnTo>
                <a:lnTo>
                  <a:pt x="452700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098127" y="4803276"/>
            <a:ext cx="8655301" cy="5570975"/>
          </a:xfrm>
          <a:custGeom>
            <a:avLst/>
            <a:gdLst/>
            <a:ahLst/>
            <a:cxnLst/>
            <a:rect l="l" t="t" r="r" b="b"/>
            <a:pathLst>
              <a:path w="8655301" h="5570975">
                <a:moveTo>
                  <a:pt x="0" y="0"/>
                </a:moveTo>
                <a:lnTo>
                  <a:pt x="8655301" y="0"/>
                </a:lnTo>
                <a:lnTo>
                  <a:pt x="8655301" y="5570975"/>
                </a:lnTo>
                <a:lnTo>
                  <a:pt x="0" y="5570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83752" y="753761"/>
            <a:ext cx="10719000" cy="7265544"/>
            <a:chOff x="0" y="0"/>
            <a:chExt cx="14292000" cy="96873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92001" cy="9687392"/>
            </a:xfrm>
            <a:custGeom>
              <a:avLst/>
              <a:gdLst/>
              <a:ahLst/>
              <a:cxnLst/>
              <a:rect l="l" t="t" r="r" b="b"/>
              <a:pathLst>
                <a:path w="14292001" h="9687392">
                  <a:moveTo>
                    <a:pt x="0" y="0"/>
                  </a:moveTo>
                  <a:lnTo>
                    <a:pt x="14292001" y="0"/>
                  </a:lnTo>
                  <a:lnTo>
                    <a:pt x="14292001" y="9687392"/>
                  </a:lnTo>
                  <a:lnTo>
                    <a:pt x="0" y="9687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4292000" cy="9687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241"/>
                </a:lnSpc>
              </a:pPr>
              <a:r>
                <a:rPr lang="en-US" sz="10201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Valuation Paradox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48" y="7103400"/>
            <a:ext cx="3597000" cy="3183600"/>
            <a:chOff x="0" y="0"/>
            <a:chExt cx="4796000" cy="4244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96028" cy="4244848"/>
            </a:xfrm>
            <a:custGeom>
              <a:avLst/>
              <a:gdLst/>
              <a:ahLst/>
              <a:cxnLst/>
              <a:rect l="l" t="t" r="r" b="b"/>
              <a:pathLst>
                <a:path w="4796028" h="4244848">
                  <a:moveTo>
                    <a:pt x="0" y="0"/>
                  </a:moveTo>
                  <a:lnTo>
                    <a:pt x="2673604" y="0"/>
                  </a:lnTo>
                  <a:cubicBezTo>
                    <a:pt x="3845814" y="0"/>
                    <a:pt x="4796028" y="950214"/>
                    <a:pt x="4796028" y="2122424"/>
                  </a:cubicBezTo>
                  <a:lnTo>
                    <a:pt x="4796028" y="4244848"/>
                  </a:lnTo>
                  <a:lnTo>
                    <a:pt x="0" y="4244848"/>
                  </a:lnTo>
                  <a:close/>
                </a:path>
              </a:pathLst>
            </a:custGeom>
            <a:solidFill>
              <a:srgbClr val="00094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-829398" y="9510900"/>
            <a:ext cx="3765000" cy="426000"/>
            <a:chOff x="0" y="0"/>
            <a:chExt cx="5020000" cy="56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20056" cy="567944"/>
            </a:xfrm>
            <a:custGeom>
              <a:avLst/>
              <a:gdLst/>
              <a:ahLst/>
              <a:cxnLst/>
              <a:rect l="l" t="t" r="r" b="b"/>
              <a:pathLst>
                <a:path w="5020056" h="567944">
                  <a:moveTo>
                    <a:pt x="5020056" y="283972"/>
                  </a:moveTo>
                  <a:cubicBezTo>
                    <a:pt x="5020056" y="127127"/>
                    <a:pt x="4892802" y="0"/>
                    <a:pt x="4735957" y="0"/>
                  </a:cubicBezTo>
                  <a:lnTo>
                    <a:pt x="283972" y="0"/>
                  </a:lnTo>
                  <a:cubicBezTo>
                    <a:pt x="127127" y="0"/>
                    <a:pt x="0" y="127127"/>
                    <a:pt x="0" y="283972"/>
                  </a:cubicBezTo>
                  <a:cubicBezTo>
                    <a:pt x="0" y="440817"/>
                    <a:pt x="127127" y="567944"/>
                    <a:pt x="283972" y="567944"/>
                  </a:cubicBezTo>
                  <a:lnTo>
                    <a:pt x="4735957" y="567944"/>
                  </a:lnTo>
                  <a:cubicBezTo>
                    <a:pt x="4892802" y="567944"/>
                    <a:pt x="5019929" y="440817"/>
                    <a:pt x="5019929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id="13" name="AutoShape 13"/>
          <p:cNvSpPr/>
          <p:nvPr/>
        </p:nvSpPr>
        <p:spPr>
          <a:xfrm rot="5384444">
            <a:off x="325831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84444">
            <a:off x="174119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22407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-129303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-432727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4444">
            <a:off x="-736149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84444">
            <a:off x="-1039573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84444">
            <a:off x="-281015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84444">
            <a:off x="-584439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84444">
            <a:off x="-887861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84444">
            <a:off x="-1191285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84444">
            <a:off x="-1342995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84444">
            <a:off x="-1494707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5384444">
            <a:off x="-1646419" y="63382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1141028" y="-2406450"/>
            <a:ext cx="4651650" cy="4651650"/>
          </a:xfrm>
          <a:custGeom>
            <a:avLst/>
            <a:gdLst/>
            <a:ahLst/>
            <a:cxnLst/>
            <a:rect l="l" t="t" r="r" b="b"/>
            <a:pathLst>
              <a:path w="4651650" h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967244" y="6343973"/>
            <a:ext cx="8353513" cy="36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When Market Love Doesn’t Match Market Logic.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27300" y="-50"/>
            <a:ext cx="18915300" cy="10286900"/>
          </a:xfrm>
          <a:custGeom>
            <a:avLst/>
            <a:gdLst/>
            <a:ahLst/>
            <a:cxnLst/>
            <a:rect l="l" t="t" r="r" b="b"/>
            <a:pathLst>
              <a:path w="18915300" h="10286900">
                <a:moveTo>
                  <a:pt x="0" y="0"/>
                </a:moveTo>
                <a:lnTo>
                  <a:pt x="18915300" y="0"/>
                </a:lnTo>
                <a:lnTo>
                  <a:pt x="18915300" y="10286900"/>
                </a:lnTo>
                <a:lnTo>
                  <a:pt x="0" y="1028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30574" y="-1346474"/>
            <a:ext cx="3770550" cy="3768500"/>
          </a:xfrm>
          <a:custGeom>
            <a:avLst/>
            <a:gdLst/>
            <a:ahLst/>
            <a:cxnLst/>
            <a:rect l="l" t="t" r="r" b="b"/>
            <a:pathLst>
              <a:path w="3770550" h="376850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6175" y="1170425"/>
            <a:ext cx="15215550" cy="69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6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“Where Numbers Whispers And Narrative Shout”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439976" y="2422026"/>
          <a:ext cx="15290801" cy="6359079"/>
        </p:xfrm>
        <a:graphic>
          <a:graphicData uri="http://schemas.openxmlformats.org/drawingml/2006/table">
            <a:tbl>
              <a:tblPr/>
              <a:tblGrid>
                <a:gridCol w="357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6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6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8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Names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Reality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Perception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Verdict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3793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ITC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ROE,Strong FCF,Consitent margings.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Historically under-owned’trades below FMCG peers.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quiet compunding machine.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1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ZOMATO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 FCF,Inconsitent Profitibility.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Trades at 200x+ P/E Equivalent.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Growth without gravity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3793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Coal India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Dividend yield, Steady Cash flows.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Ignored due to ESG and “boring”tag.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Diamond Around coal.Ignored because of dust.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1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Adani Green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leverage,Negative FCF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Extremly high valuations.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ESG narrative over fundamentals.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91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DLF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 Brand,but delayed conversion.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P/E near 70+ despite Cyclical sector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 Estate valuation bubbel.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991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649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HDFC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Consistent ROE,but flattening growth curve.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Still trades at premium multiples.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94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Premium on Trust.</a:t>
                      </a:r>
                      <a:endParaRPr lang="en-US" sz="1100"/>
                    </a:p>
                  </a:txBody>
                  <a:tcPr marL="22856" marR="22856" marT="22856" marB="22856" anchor="ctr">
                    <a:lnL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3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815042" y="-700"/>
            <a:ext cx="19131760" cy="10315308"/>
          </a:xfrm>
          <a:custGeom>
            <a:avLst/>
            <a:gdLst/>
            <a:ahLst/>
            <a:cxnLst/>
            <a:rect l="l" t="t" r="r" b="b"/>
            <a:pathLst>
              <a:path w="19131760" h="10315308">
                <a:moveTo>
                  <a:pt x="0" y="0"/>
                </a:moveTo>
                <a:lnTo>
                  <a:pt x="19131760" y="0"/>
                </a:lnTo>
                <a:lnTo>
                  <a:pt x="19131760" y="10315308"/>
                </a:lnTo>
                <a:lnTo>
                  <a:pt x="0" y="10315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25816" y="-152725"/>
            <a:ext cx="23996050" cy="9360701"/>
          </a:xfrm>
          <a:custGeom>
            <a:avLst/>
            <a:gdLst/>
            <a:ahLst/>
            <a:cxnLst/>
            <a:rect l="l" t="t" r="r" b="b"/>
            <a:pathLst>
              <a:path w="23996050" h="9360701">
                <a:moveTo>
                  <a:pt x="0" y="0"/>
                </a:moveTo>
                <a:lnTo>
                  <a:pt x="23996050" y="0"/>
                </a:lnTo>
                <a:lnTo>
                  <a:pt x="23996050" y="9360701"/>
                </a:lnTo>
                <a:lnTo>
                  <a:pt x="0" y="936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6175" y="2507013"/>
            <a:ext cx="78085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Cash rich sectors were underpriced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3325" y="1360875"/>
            <a:ext cx="7991400" cy="1276200"/>
            <a:chOff x="0" y="0"/>
            <a:chExt cx="10655200" cy="170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55200" cy="1701600"/>
            </a:xfrm>
            <a:custGeom>
              <a:avLst/>
              <a:gdLst/>
              <a:ahLst/>
              <a:cxnLst/>
              <a:rect l="l" t="t" r="r" b="b"/>
              <a:pathLst>
                <a:path w="10655200" h="1701600">
                  <a:moveTo>
                    <a:pt x="0" y="0"/>
                  </a:moveTo>
                  <a:lnTo>
                    <a:pt x="10655200" y="0"/>
                  </a:lnTo>
                  <a:lnTo>
                    <a:pt x="10655200" y="1701600"/>
                  </a:lnTo>
                  <a:lnTo>
                    <a:pt x="0" y="170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0655200" cy="17016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360"/>
                </a:lnSpc>
              </a:pPr>
              <a:r>
                <a:rPr lang="en-US" sz="53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First Surprise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40175" y="5307013"/>
            <a:ext cx="78085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Valuation follows attention,not effeciency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48750" y="4221850"/>
            <a:ext cx="7991400" cy="1276200"/>
            <a:chOff x="0" y="0"/>
            <a:chExt cx="10655200" cy="17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55200" cy="1701600"/>
            </a:xfrm>
            <a:custGeom>
              <a:avLst/>
              <a:gdLst/>
              <a:ahLst/>
              <a:cxnLst/>
              <a:rect l="l" t="t" r="r" b="b"/>
              <a:pathLst>
                <a:path w="10655200" h="1701600">
                  <a:moveTo>
                    <a:pt x="0" y="0"/>
                  </a:moveTo>
                  <a:lnTo>
                    <a:pt x="10655200" y="0"/>
                  </a:lnTo>
                  <a:lnTo>
                    <a:pt x="10655200" y="1701600"/>
                  </a:lnTo>
                  <a:lnTo>
                    <a:pt x="0" y="170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0655200" cy="17016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000"/>
                </a:lnSpc>
              </a:pPr>
              <a:r>
                <a:rPr lang="en-US" sz="50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Second Realization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42825" y="8107013"/>
            <a:ext cx="78085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True compounders stay boring.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759975" y="6960875"/>
            <a:ext cx="7991400" cy="1276200"/>
            <a:chOff x="0" y="0"/>
            <a:chExt cx="10655200" cy="170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55200" cy="1701600"/>
            </a:xfrm>
            <a:custGeom>
              <a:avLst/>
              <a:gdLst/>
              <a:ahLst/>
              <a:cxnLst/>
              <a:rect l="l" t="t" r="r" b="b"/>
              <a:pathLst>
                <a:path w="10655200" h="1701600">
                  <a:moveTo>
                    <a:pt x="0" y="0"/>
                  </a:moveTo>
                  <a:lnTo>
                    <a:pt x="10655200" y="0"/>
                  </a:lnTo>
                  <a:lnTo>
                    <a:pt x="10655200" y="1701600"/>
                  </a:lnTo>
                  <a:lnTo>
                    <a:pt x="0" y="170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655200" cy="17016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Final Pattern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5384444">
            <a:off x="2432961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84444">
            <a:off x="2281249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84444">
            <a:off x="2129537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84444">
            <a:off x="1977827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84444">
            <a:off x="1674403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84444">
            <a:off x="1370981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84444">
            <a:off x="1067557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84444">
            <a:off x="1826115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5384444">
            <a:off x="1522691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5384444">
            <a:off x="1219269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5384444">
            <a:off x="915845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5384444">
            <a:off x="764135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rot="5384444">
            <a:off x="612423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rot="5384444">
            <a:off x="460711" y="97239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848" y="0"/>
            <a:ext cx="18256302" cy="10286998"/>
            <a:chOff x="0" y="0"/>
            <a:chExt cx="24341736" cy="1371599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10799348">
            <a:off x="12229991" y="-374171"/>
            <a:ext cx="6343050" cy="1241250"/>
            <a:chOff x="0" y="0"/>
            <a:chExt cx="8457400" cy="165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57312" cy="1654937"/>
            </a:xfrm>
            <a:custGeom>
              <a:avLst/>
              <a:gdLst/>
              <a:ahLst/>
              <a:cxnLst/>
              <a:rect l="l" t="t" r="r" b="b"/>
              <a:pathLst>
                <a:path w="8457312" h="1654937">
                  <a:moveTo>
                    <a:pt x="12700" y="0"/>
                  </a:moveTo>
                  <a:lnTo>
                    <a:pt x="8169656" y="0"/>
                  </a:lnTo>
                  <a:lnTo>
                    <a:pt x="8169656" y="12700"/>
                  </a:lnTo>
                  <a:lnTo>
                    <a:pt x="8169656" y="0"/>
                  </a:lnTo>
                  <a:cubicBezTo>
                    <a:pt x="8328406" y="0"/>
                    <a:pt x="8457312" y="127127"/>
                    <a:pt x="8457312" y="284353"/>
                  </a:cubicBezTo>
                  <a:lnTo>
                    <a:pt x="8444612" y="284353"/>
                  </a:lnTo>
                  <a:lnTo>
                    <a:pt x="8457312" y="284353"/>
                  </a:lnTo>
                  <a:lnTo>
                    <a:pt x="8457312" y="1642237"/>
                  </a:lnTo>
                  <a:cubicBezTo>
                    <a:pt x="8457312" y="1649222"/>
                    <a:pt x="8451597" y="1654937"/>
                    <a:pt x="8444612" y="1654937"/>
                  </a:cubicBezTo>
                  <a:lnTo>
                    <a:pt x="12700" y="1654937"/>
                  </a:lnTo>
                  <a:cubicBezTo>
                    <a:pt x="5715" y="1654937"/>
                    <a:pt x="0" y="1649222"/>
                    <a:pt x="0" y="164223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2237"/>
                  </a:lnTo>
                  <a:lnTo>
                    <a:pt x="12700" y="1642237"/>
                  </a:lnTo>
                  <a:lnTo>
                    <a:pt x="12700" y="1629537"/>
                  </a:lnTo>
                  <a:lnTo>
                    <a:pt x="8444738" y="1629537"/>
                  </a:lnTo>
                  <a:lnTo>
                    <a:pt x="8444738" y="1642237"/>
                  </a:lnTo>
                  <a:lnTo>
                    <a:pt x="8432038" y="1642237"/>
                  </a:lnTo>
                  <a:lnTo>
                    <a:pt x="8432038" y="284353"/>
                  </a:lnTo>
                  <a:cubicBezTo>
                    <a:pt x="8432038" y="141478"/>
                    <a:pt x="8314690" y="25400"/>
                    <a:pt x="8169656" y="25400"/>
                  </a:cubicBez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id="6" name="AutoShape 6"/>
          <p:cNvSpPr/>
          <p:nvPr/>
        </p:nvSpPr>
        <p:spPr>
          <a:xfrm rot="5384444">
            <a:off x="-1924843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84444">
            <a:off x="-2076555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84444">
            <a:off x="-1773131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84444">
            <a:off x="-1621421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4444">
            <a:off x="-1469709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4444">
            <a:off x="-1317997" y="909130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6057400" y="-4024050"/>
            <a:ext cx="4651650" cy="4651650"/>
          </a:xfrm>
          <a:custGeom>
            <a:avLst/>
            <a:gdLst/>
            <a:ahLst/>
            <a:cxnLst/>
            <a:rect l="l" t="t" r="r" b="b"/>
            <a:pathLst>
              <a:path w="4651650" h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18316" y="175049"/>
            <a:ext cx="19115908" cy="9936900"/>
          </a:xfrm>
          <a:custGeom>
            <a:avLst/>
            <a:gdLst/>
            <a:ahLst/>
            <a:cxnLst/>
            <a:rect l="l" t="t" r="r" b="b"/>
            <a:pathLst>
              <a:path w="19115908" h="9936900">
                <a:moveTo>
                  <a:pt x="0" y="0"/>
                </a:moveTo>
                <a:lnTo>
                  <a:pt x="19115908" y="0"/>
                </a:lnTo>
                <a:lnTo>
                  <a:pt x="19115908" y="9936900"/>
                </a:lnTo>
                <a:lnTo>
                  <a:pt x="0" y="993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11073" y="1170475"/>
            <a:ext cx="15215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 of Findings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0650" y="3704179"/>
            <a:ext cx="45967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High PE sectors Show Low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Cash Ratios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.Growth is being financed not earned.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7592" y="3636601"/>
            <a:ext cx="45967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Over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40% 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of listed firms trade above their fundamental fair value.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60650" y="2561185"/>
            <a:ext cx="4779600" cy="948991"/>
            <a:chOff x="0" y="0"/>
            <a:chExt cx="6372800" cy="12653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72800" cy="1265322"/>
            </a:xfrm>
            <a:custGeom>
              <a:avLst/>
              <a:gdLst/>
              <a:ahLst/>
              <a:cxnLst/>
              <a:rect l="l" t="t" r="r" b="b"/>
              <a:pathLst>
                <a:path w="6372800" h="1265322">
                  <a:moveTo>
                    <a:pt x="0" y="0"/>
                  </a:moveTo>
                  <a:lnTo>
                    <a:pt x="6372800" y="0"/>
                  </a:lnTo>
                  <a:lnTo>
                    <a:pt x="6372800" y="1265322"/>
                  </a:lnTo>
                  <a:lnTo>
                    <a:pt x="0" y="1265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6372800" cy="126532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Growth Without Cash Flow Is Fragile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30900" y="2532709"/>
            <a:ext cx="5026292" cy="805800"/>
            <a:chOff x="0" y="0"/>
            <a:chExt cx="6701723" cy="107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01723" cy="1074400"/>
            </a:xfrm>
            <a:custGeom>
              <a:avLst/>
              <a:gdLst/>
              <a:ahLst/>
              <a:cxnLst/>
              <a:rect l="l" t="t" r="r" b="b"/>
              <a:pathLst>
                <a:path w="6701723" h="1074400">
                  <a:moveTo>
                    <a:pt x="0" y="0"/>
                  </a:moveTo>
                  <a:lnTo>
                    <a:pt x="6701723" y="0"/>
                  </a:lnTo>
                  <a:lnTo>
                    <a:pt x="6701723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701723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Valuations &gt; Fundamentals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229873" y="3636601"/>
            <a:ext cx="4596750" cy="143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Old-Economy sectors like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Power,Oil and Metals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Stays Undervalued most of the Time.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29873" y="2532709"/>
            <a:ext cx="4779600" cy="948991"/>
            <a:chOff x="0" y="0"/>
            <a:chExt cx="6372800" cy="12653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72800" cy="1265322"/>
            </a:xfrm>
            <a:custGeom>
              <a:avLst/>
              <a:gdLst/>
              <a:ahLst/>
              <a:cxnLst/>
              <a:rect l="l" t="t" r="r" b="b"/>
              <a:pathLst>
                <a:path w="6372800" h="1265322">
                  <a:moveTo>
                    <a:pt x="0" y="0"/>
                  </a:moveTo>
                  <a:lnTo>
                    <a:pt x="6372800" y="0"/>
                  </a:lnTo>
                  <a:lnTo>
                    <a:pt x="6372800" y="1265322"/>
                  </a:lnTo>
                  <a:lnTo>
                    <a:pt x="0" y="1265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372800" cy="126532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Real Economy Is Under- Owned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36175" y="6891900"/>
            <a:ext cx="4596750" cy="10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80%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of Indian Firms Show Accounting Profit but only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35%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show cash profit.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44400" y="6793223"/>
            <a:ext cx="4596750" cy="71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High 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ROE 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is meaningless when</a:t>
            </a: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ROCE 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is low....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36175" y="5795783"/>
            <a:ext cx="4779600" cy="805800"/>
            <a:chOff x="0" y="0"/>
            <a:chExt cx="6372800" cy="107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72800" cy="1074400"/>
            </a:xfrm>
            <a:custGeom>
              <a:avLst/>
              <a:gdLst/>
              <a:ahLst/>
              <a:cxnLst/>
              <a:rect l="l" t="t" r="r" b="b"/>
              <a:pathLst>
                <a:path w="6372800" h="1074400">
                  <a:moveTo>
                    <a:pt x="0" y="0"/>
                  </a:moveTo>
                  <a:lnTo>
                    <a:pt x="6372800" y="0"/>
                  </a:lnTo>
                  <a:lnTo>
                    <a:pt x="63728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3728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Profit Mirage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30900" y="5795783"/>
            <a:ext cx="4779600" cy="805800"/>
            <a:chOff x="0" y="0"/>
            <a:chExt cx="6372800" cy="107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72800" cy="1074400"/>
            </a:xfrm>
            <a:custGeom>
              <a:avLst/>
              <a:gdLst/>
              <a:ahLst/>
              <a:cxnLst/>
              <a:rect l="l" t="t" r="r" b="b"/>
              <a:pathLst>
                <a:path w="6372800" h="1074400">
                  <a:moveTo>
                    <a:pt x="0" y="0"/>
                  </a:moveTo>
                  <a:lnTo>
                    <a:pt x="6372800" y="0"/>
                  </a:lnTo>
                  <a:lnTo>
                    <a:pt x="63728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3728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720"/>
                </a:lnSpc>
              </a:pPr>
              <a:r>
                <a:rPr lang="en-US" sz="31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“Leverage Illusion”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229873" y="6891900"/>
            <a:ext cx="4596750" cy="71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Cash Flow</a:t>
            </a:r>
            <a:r>
              <a:rPr lang="en-US" sz="2400">
                <a:solidFill>
                  <a:srgbClr val="00094A"/>
                </a:solidFill>
                <a:latin typeface="Montserrat"/>
                <a:ea typeface="Montserrat"/>
                <a:cs typeface="Montserrat"/>
                <a:sym typeface="Montserrat"/>
              </a:rPr>
              <a:t> is the only metric that never lies.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229873" y="5879221"/>
            <a:ext cx="4779600" cy="805800"/>
            <a:chOff x="0" y="0"/>
            <a:chExt cx="6372800" cy="107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72800" cy="1074400"/>
            </a:xfrm>
            <a:custGeom>
              <a:avLst/>
              <a:gdLst/>
              <a:ahLst/>
              <a:cxnLst/>
              <a:rect l="l" t="t" r="r" b="b"/>
              <a:pathLst>
                <a:path w="6372800" h="1074400">
                  <a:moveTo>
                    <a:pt x="0" y="0"/>
                  </a:moveTo>
                  <a:lnTo>
                    <a:pt x="6372800" y="0"/>
                  </a:lnTo>
                  <a:lnTo>
                    <a:pt x="6372800" y="1074400"/>
                  </a:lnTo>
                  <a:lnTo>
                    <a:pt x="0" y="107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6372800" cy="1074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64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“FCF Honesty” Rule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60475" y="-152725"/>
            <a:ext cx="6343050" cy="1241250"/>
            <a:chOff x="0" y="0"/>
            <a:chExt cx="8457400" cy="165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57438" cy="1654937"/>
            </a:xfrm>
            <a:custGeom>
              <a:avLst/>
              <a:gdLst/>
              <a:ahLst/>
              <a:cxnLst/>
              <a:rect l="l" t="t" r="r" b="b"/>
              <a:pathLst>
                <a:path w="8457438" h="1654937">
                  <a:moveTo>
                    <a:pt x="8444738" y="25400"/>
                  </a:move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1478"/>
                    <a:pt x="25400" y="284353"/>
                  </a:cubicBezTo>
                  <a:lnTo>
                    <a:pt x="12700" y="284353"/>
                  </a:lnTo>
                  <a:lnTo>
                    <a:pt x="25400" y="284353"/>
                  </a:lnTo>
                  <a:lnTo>
                    <a:pt x="25400" y="1642237"/>
                  </a:lnTo>
                  <a:lnTo>
                    <a:pt x="12700" y="1642237"/>
                  </a:lnTo>
                  <a:lnTo>
                    <a:pt x="12700" y="1629537"/>
                  </a:lnTo>
                  <a:lnTo>
                    <a:pt x="8444738" y="1629537"/>
                  </a:lnTo>
                  <a:lnTo>
                    <a:pt x="8444738" y="1642237"/>
                  </a:lnTo>
                  <a:lnTo>
                    <a:pt x="8432038" y="1642237"/>
                  </a:lnTo>
                  <a:lnTo>
                    <a:pt x="8432038" y="12700"/>
                  </a:lnTo>
                  <a:lnTo>
                    <a:pt x="8444738" y="12700"/>
                  </a:lnTo>
                  <a:lnTo>
                    <a:pt x="8444738" y="25400"/>
                  </a:lnTo>
                  <a:moveTo>
                    <a:pt x="8444738" y="0"/>
                  </a:moveTo>
                  <a:cubicBezTo>
                    <a:pt x="8451723" y="0"/>
                    <a:pt x="8457438" y="5715"/>
                    <a:pt x="8457438" y="12700"/>
                  </a:cubicBezTo>
                  <a:lnTo>
                    <a:pt x="8457438" y="1642237"/>
                  </a:lnTo>
                  <a:cubicBezTo>
                    <a:pt x="8457438" y="1649222"/>
                    <a:pt x="8451723" y="1654937"/>
                    <a:pt x="8444738" y="1654937"/>
                  </a:cubicBezTo>
                  <a:lnTo>
                    <a:pt x="12700" y="1654937"/>
                  </a:lnTo>
                  <a:cubicBezTo>
                    <a:pt x="5715" y="1654937"/>
                    <a:pt x="0" y="1649222"/>
                    <a:pt x="0" y="1642237"/>
                  </a:cubicBezTo>
                  <a:lnTo>
                    <a:pt x="0" y="284353"/>
                  </a:lnTo>
                  <a:cubicBezTo>
                    <a:pt x="0" y="127127"/>
                    <a:pt x="128905" y="0"/>
                    <a:pt x="287655" y="0"/>
                  </a:cubicBezTo>
                  <a:lnTo>
                    <a:pt x="8444738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id="4" name="AutoShape 4"/>
          <p:cNvSpPr/>
          <p:nvPr/>
        </p:nvSpPr>
        <p:spPr>
          <a:xfrm rot="5384444">
            <a:off x="13752079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384444">
            <a:off x="13903791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84444">
            <a:off x="14055503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84444">
            <a:off x="14207213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84444">
            <a:off x="14510637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84444">
            <a:off x="14814059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4444">
            <a:off x="15117483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4444">
            <a:off x="14358925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4444">
            <a:off x="14662349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84444">
            <a:off x="14965771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84444">
            <a:off x="15269195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84444">
            <a:off x="15420905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84444">
            <a:off x="15572617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4444">
            <a:off x="15724329" y="2733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-2589074" y="3482476"/>
            <a:ext cx="3770550" cy="3768500"/>
          </a:xfrm>
          <a:custGeom>
            <a:avLst/>
            <a:gdLst/>
            <a:ahLst/>
            <a:cxnLst/>
            <a:rect l="l" t="t" r="r" b="b"/>
            <a:pathLst>
              <a:path w="3770550" h="376850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848" y="0"/>
            <a:ext cx="18256302" cy="10286998"/>
            <a:chOff x="0" y="0"/>
            <a:chExt cx="24341736" cy="13715997"/>
          </a:xfrm>
        </p:grpSpPr>
        <p:sp>
          <p:nvSpPr>
            <p:cNvPr id="20" name="Freeform 20"/>
            <p:cNvSpPr/>
            <p:nvPr/>
          </p:nvSpPr>
          <p:spPr>
            <a:xfrm flipH="1"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2434171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41710" y="13716000"/>
                  </a:lnTo>
                  <a:lnTo>
                    <a:pt x="2434171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850" y="9654500"/>
            <a:ext cx="4527000" cy="627600"/>
            <a:chOff x="0" y="0"/>
            <a:chExt cx="6036000" cy="836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35929" cy="836803"/>
            </a:xfrm>
            <a:custGeom>
              <a:avLst/>
              <a:gdLst/>
              <a:ahLst/>
              <a:cxnLst/>
              <a:rect l="l" t="t" r="r" b="b"/>
              <a:pathLst>
                <a:path w="6035929" h="836803">
                  <a:moveTo>
                    <a:pt x="0" y="0"/>
                  </a:moveTo>
                  <a:lnTo>
                    <a:pt x="5617591" y="0"/>
                  </a:lnTo>
                  <a:cubicBezTo>
                    <a:pt x="5848604" y="0"/>
                    <a:pt x="6035929" y="187325"/>
                    <a:pt x="6035929" y="418338"/>
                  </a:cubicBezTo>
                  <a:lnTo>
                    <a:pt x="6035929" y="836803"/>
                  </a:lnTo>
                  <a:lnTo>
                    <a:pt x="0" y="836803"/>
                  </a:lnTo>
                  <a:close/>
                </a:path>
              </a:pathLst>
            </a:custGeom>
            <a:solidFill>
              <a:srgbClr val="006DF5">
                <a:alpha val="16078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548625" y="6004081"/>
            <a:ext cx="13190550" cy="8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5599" b="1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—Aswath Damodaran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457200" y="3076550"/>
            <a:ext cx="13373400" cy="2974800"/>
            <a:chOff x="0" y="0"/>
            <a:chExt cx="17831200" cy="396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831200" cy="3966400"/>
            </a:xfrm>
            <a:custGeom>
              <a:avLst/>
              <a:gdLst/>
              <a:ahLst/>
              <a:cxnLst/>
              <a:rect l="l" t="t" r="r" b="b"/>
              <a:pathLst>
                <a:path w="17831200" h="3966400">
                  <a:moveTo>
                    <a:pt x="0" y="0"/>
                  </a:moveTo>
                  <a:lnTo>
                    <a:pt x="17831200" y="0"/>
                  </a:lnTo>
                  <a:lnTo>
                    <a:pt x="17831200" y="3966400"/>
                  </a:lnTo>
                  <a:lnTo>
                    <a:pt x="0" y="396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7831200" cy="39854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7200"/>
                </a:lnSpc>
              </a:pPr>
              <a:r>
                <a:rPr lang="en-US" sz="6000">
                  <a:solidFill>
                    <a:srgbClr val="00094A"/>
                  </a:solidFill>
                  <a:latin typeface="Maven Pro"/>
                  <a:ea typeface="Maven Pro"/>
                  <a:cs typeface="Maven Pro"/>
                  <a:sym typeface="Maven Pro"/>
                </a:rPr>
                <a:t>“Valuation is not about precision.It’s about understanding the story behind numbers.”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1181600" y="5438900"/>
            <a:ext cx="7106450" cy="4848000"/>
          </a:xfrm>
          <a:custGeom>
            <a:avLst/>
            <a:gdLst/>
            <a:ahLst/>
            <a:cxnLst/>
            <a:rect l="l" t="t" r="r" b="b"/>
            <a:pathLst>
              <a:path w="7106450" h="4848000">
                <a:moveTo>
                  <a:pt x="0" y="0"/>
                </a:moveTo>
                <a:lnTo>
                  <a:pt x="7106450" y="0"/>
                </a:lnTo>
                <a:lnTo>
                  <a:pt x="7106450" y="4848000"/>
                </a:lnTo>
                <a:lnTo>
                  <a:pt x="0" y="484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4960750" y="1079000"/>
            <a:ext cx="3765000" cy="426000"/>
            <a:chOff x="0" y="0"/>
            <a:chExt cx="5020000" cy="56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19929" cy="567944"/>
            </a:xfrm>
            <a:custGeom>
              <a:avLst/>
              <a:gdLst/>
              <a:ahLst/>
              <a:cxnLst/>
              <a:rect l="l" t="t" r="r" b="b"/>
              <a:pathLst>
                <a:path w="5019929" h="567944">
                  <a:moveTo>
                    <a:pt x="0" y="283972"/>
                  </a:moveTo>
                  <a:cubicBezTo>
                    <a:pt x="0" y="127127"/>
                    <a:pt x="127127" y="0"/>
                    <a:pt x="283972" y="0"/>
                  </a:cubicBezTo>
                  <a:lnTo>
                    <a:pt x="4735957" y="0"/>
                  </a:lnTo>
                  <a:cubicBezTo>
                    <a:pt x="4892802" y="0"/>
                    <a:pt x="5019929" y="127127"/>
                    <a:pt x="5019929" y="283972"/>
                  </a:cubicBezTo>
                  <a:cubicBezTo>
                    <a:pt x="5019929" y="440817"/>
                    <a:pt x="4892802" y="567944"/>
                    <a:pt x="4735957" y="567944"/>
                  </a:cubicBezTo>
                  <a:lnTo>
                    <a:pt x="283972" y="567944"/>
                  </a:lnTo>
                  <a:cubicBezTo>
                    <a:pt x="127127" y="567944"/>
                    <a:pt x="0" y="440817"/>
                    <a:pt x="0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926" y="-3357200"/>
            <a:ext cx="18829574" cy="9286626"/>
          </a:xfrm>
          <a:custGeom>
            <a:avLst/>
            <a:gdLst/>
            <a:ahLst/>
            <a:cxnLst/>
            <a:rect l="l" t="t" r="r" b="b"/>
            <a:pathLst>
              <a:path w="18829574" h="9286626">
                <a:moveTo>
                  <a:pt x="0" y="0"/>
                </a:moveTo>
                <a:lnTo>
                  <a:pt x="18829574" y="0"/>
                </a:lnTo>
                <a:lnTo>
                  <a:pt x="18829574" y="9286626"/>
                </a:lnTo>
                <a:lnTo>
                  <a:pt x="0" y="9286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48" y="0"/>
            <a:ext cx="18256302" cy="10286998"/>
            <a:chOff x="0" y="0"/>
            <a:chExt cx="24341736" cy="13715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41710" cy="13716000"/>
            </a:xfrm>
            <a:custGeom>
              <a:avLst/>
              <a:gdLst/>
              <a:ahLst/>
              <a:cxnLst/>
              <a:rect l="l" t="t" r="r" b="b"/>
              <a:pathLst>
                <a:path w="24341710" h="13716000">
                  <a:moveTo>
                    <a:pt x="0" y="0"/>
                  </a:moveTo>
                  <a:lnTo>
                    <a:pt x="24341710" y="0"/>
                  </a:lnTo>
                  <a:lnTo>
                    <a:pt x="243417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272073" y="2881573"/>
            <a:ext cx="7546200" cy="1816800"/>
            <a:chOff x="0" y="0"/>
            <a:chExt cx="10061600" cy="2422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61600" cy="2422400"/>
            </a:xfrm>
            <a:custGeom>
              <a:avLst/>
              <a:gdLst/>
              <a:ahLst/>
              <a:cxnLst/>
              <a:rect l="l" t="t" r="r" b="b"/>
              <a:pathLst>
                <a:path w="10061600" h="2422400">
                  <a:moveTo>
                    <a:pt x="0" y="0"/>
                  </a:moveTo>
                  <a:lnTo>
                    <a:pt x="10061600" y="0"/>
                  </a:lnTo>
                  <a:lnTo>
                    <a:pt x="10061600" y="2422400"/>
                  </a:lnTo>
                  <a:lnTo>
                    <a:pt x="0" y="2422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0061600" cy="241287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00094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918869" y="-166125"/>
            <a:ext cx="5440650" cy="1721850"/>
            <a:chOff x="0" y="0"/>
            <a:chExt cx="7254200" cy="2295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54240" cy="2295779"/>
            </a:xfrm>
            <a:custGeom>
              <a:avLst/>
              <a:gdLst/>
              <a:ahLst/>
              <a:cxnLst/>
              <a:rect l="l" t="t" r="r" b="b"/>
              <a:pathLst>
                <a:path w="7254240" h="2295779">
                  <a:moveTo>
                    <a:pt x="12700" y="0"/>
                  </a:moveTo>
                  <a:lnTo>
                    <a:pt x="6860159" y="0"/>
                  </a:lnTo>
                  <a:lnTo>
                    <a:pt x="6860159" y="12700"/>
                  </a:lnTo>
                  <a:lnTo>
                    <a:pt x="6860159" y="0"/>
                  </a:lnTo>
                  <a:cubicBezTo>
                    <a:pt x="7077710" y="0"/>
                    <a:pt x="7254240" y="175006"/>
                    <a:pt x="7254240" y="391160"/>
                  </a:cubicBezTo>
                  <a:lnTo>
                    <a:pt x="7241540" y="391160"/>
                  </a:lnTo>
                  <a:lnTo>
                    <a:pt x="7254240" y="391160"/>
                  </a:lnTo>
                  <a:lnTo>
                    <a:pt x="7254240" y="2283079"/>
                  </a:lnTo>
                  <a:cubicBezTo>
                    <a:pt x="7254240" y="2290064"/>
                    <a:pt x="7248525" y="2295779"/>
                    <a:pt x="724154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7241540" y="2270379"/>
                  </a:lnTo>
                  <a:lnTo>
                    <a:pt x="7241540" y="2283079"/>
                  </a:lnTo>
                  <a:lnTo>
                    <a:pt x="7228840" y="2283079"/>
                  </a:lnTo>
                  <a:lnTo>
                    <a:pt x="7228840" y="391160"/>
                  </a:lnTo>
                  <a:cubicBezTo>
                    <a:pt x="7228840" y="189230"/>
                    <a:pt x="7063867" y="25400"/>
                    <a:pt x="6860159" y="25400"/>
                  </a:cubicBez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807782" y="6544200"/>
            <a:ext cx="2510400" cy="3742800"/>
            <a:chOff x="0" y="0"/>
            <a:chExt cx="3347200" cy="4990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47212" cy="4990338"/>
            </a:xfrm>
            <a:custGeom>
              <a:avLst/>
              <a:gdLst/>
              <a:ahLst/>
              <a:cxnLst/>
              <a:rect l="l" t="t" r="r" b="b"/>
              <a:pathLst>
                <a:path w="3347212" h="4990338">
                  <a:moveTo>
                    <a:pt x="3347212" y="0"/>
                  </a:moveTo>
                  <a:lnTo>
                    <a:pt x="0" y="0"/>
                  </a:lnTo>
                  <a:lnTo>
                    <a:pt x="0" y="4990338"/>
                  </a:lnTo>
                  <a:lnTo>
                    <a:pt x="3347212" y="4990338"/>
                  </a:lnTo>
                  <a:close/>
                </a:path>
              </a:pathLst>
            </a:custGeom>
            <a:solidFill>
              <a:srgbClr val="63DBF5">
                <a:alpha val="47451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94900" y="6878950"/>
            <a:ext cx="3930600" cy="3408000"/>
            <a:chOff x="0" y="0"/>
            <a:chExt cx="5240800" cy="454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40782" cy="4544060"/>
            </a:xfrm>
            <a:custGeom>
              <a:avLst/>
              <a:gdLst/>
              <a:ahLst/>
              <a:cxnLst/>
              <a:rect l="l" t="t" r="r" b="b"/>
              <a:pathLst>
                <a:path w="5240782" h="4544060">
                  <a:moveTo>
                    <a:pt x="0" y="0"/>
                  </a:moveTo>
                  <a:lnTo>
                    <a:pt x="2968752" y="0"/>
                  </a:lnTo>
                  <a:cubicBezTo>
                    <a:pt x="4223512" y="0"/>
                    <a:pt x="5240782" y="1017270"/>
                    <a:pt x="5240782" y="2272030"/>
                  </a:cubicBezTo>
                  <a:lnTo>
                    <a:pt x="5240782" y="4544060"/>
                  </a:lnTo>
                  <a:lnTo>
                    <a:pt x="0" y="4544060"/>
                  </a:lnTo>
                  <a:close/>
                </a:path>
              </a:pathLst>
            </a:custGeom>
            <a:solidFill>
              <a:srgbClr val="00094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-94900" y="9189600"/>
            <a:ext cx="8314800" cy="1097400"/>
            <a:chOff x="0" y="0"/>
            <a:chExt cx="11086400" cy="1463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86465" cy="1463294"/>
            </a:xfrm>
            <a:custGeom>
              <a:avLst/>
              <a:gdLst/>
              <a:ahLst/>
              <a:cxnLst/>
              <a:rect l="l" t="t" r="r" b="b"/>
              <a:pathLst>
                <a:path w="11086465" h="1463294">
                  <a:moveTo>
                    <a:pt x="0" y="0"/>
                  </a:moveTo>
                  <a:lnTo>
                    <a:pt x="10354818" y="0"/>
                  </a:lnTo>
                  <a:cubicBezTo>
                    <a:pt x="10758932" y="0"/>
                    <a:pt x="11086465" y="327533"/>
                    <a:pt x="11086465" y="731647"/>
                  </a:cubicBezTo>
                  <a:lnTo>
                    <a:pt x="11086465" y="1463294"/>
                  </a:lnTo>
                  <a:lnTo>
                    <a:pt x="0" y="1463294"/>
                  </a:lnTo>
                  <a:close/>
                </a:path>
              </a:pathLst>
            </a:custGeom>
            <a:solidFill>
              <a:srgbClr val="63DBF5">
                <a:alpha val="47451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791182" y="9659450"/>
            <a:ext cx="4527000" cy="627600"/>
            <a:chOff x="0" y="0"/>
            <a:chExt cx="6036000" cy="836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36056" cy="836803"/>
            </a:xfrm>
            <a:custGeom>
              <a:avLst/>
              <a:gdLst/>
              <a:ahLst/>
              <a:cxnLst/>
              <a:rect l="l" t="t" r="r" b="b"/>
              <a:pathLst>
                <a:path w="6036056" h="836803">
                  <a:moveTo>
                    <a:pt x="6036056" y="0"/>
                  </a:moveTo>
                  <a:lnTo>
                    <a:pt x="418338" y="0"/>
                  </a:lnTo>
                  <a:cubicBezTo>
                    <a:pt x="187325" y="0"/>
                    <a:pt x="0" y="187325"/>
                    <a:pt x="0" y="418338"/>
                  </a:cubicBezTo>
                  <a:lnTo>
                    <a:pt x="0" y="836803"/>
                  </a:lnTo>
                  <a:lnTo>
                    <a:pt x="6036056" y="836803"/>
                  </a:lnTo>
                  <a:close/>
                </a:path>
              </a:pathLst>
            </a:custGeom>
            <a:solidFill>
              <a:srgbClr val="006DF5">
                <a:alpha val="16078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-1260174" y="1792950"/>
            <a:ext cx="3765000" cy="426000"/>
            <a:chOff x="0" y="0"/>
            <a:chExt cx="5020000" cy="56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20056" cy="567944"/>
            </a:xfrm>
            <a:custGeom>
              <a:avLst/>
              <a:gdLst/>
              <a:ahLst/>
              <a:cxnLst/>
              <a:rect l="l" t="t" r="r" b="b"/>
              <a:pathLst>
                <a:path w="5020056" h="567944">
                  <a:moveTo>
                    <a:pt x="5020056" y="283972"/>
                  </a:moveTo>
                  <a:cubicBezTo>
                    <a:pt x="5020056" y="127127"/>
                    <a:pt x="4892802" y="0"/>
                    <a:pt x="4735957" y="0"/>
                  </a:cubicBezTo>
                  <a:lnTo>
                    <a:pt x="283972" y="0"/>
                  </a:lnTo>
                  <a:cubicBezTo>
                    <a:pt x="127127" y="0"/>
                    <a:pt x="0" y="127127"/>
                    <a:pt x="0" y="283972"/>
                  </a:cubicBezTo>
                  <a:cubicBezTo>
                    <a:pt x="0" y="440817"/>
                    <a:pt x="127127" y="567944"/>
                    <a:pt x="283972" y="567944"/>
                  </a:cubicBezTo>
                  <a:lnTo>
                    <a:pt x="4735957" y="567944"/>
                  </a:lnTo>
                  <a:cubicBezTo>
                    <a:pt x="4892802" y="567944"/>
                    <a:pt x="5019929" y="440817"/>
                    <a:pt x="5019929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id="20" name="AutoShape 20"/>
          <p:cNvSpPr/>
          <p:nvPr/>
        </p:nvSpPr>
        <p:spPr>
          <a:xfrm rot="5384444">
            <a:off x="825579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84444">
            <a:off x="67386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84444">
            <a:off x="522155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84444">
            <a:off x="370445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84444">
            <a:off x="6702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84444">
            <a:off x="-23640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5384444">
            <a:off x="-539825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5384444">
            <a:off x="21873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5384444">
            <a:off x="-8469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5384444">
            <a:off x="-388113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rot="5384444">
            <a:off x="-69153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rot="5384444">
            <a:off x="-843247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rot="5384444">
            <a:off x="-994959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 rot="5384444">
            <a:off x="-1146671" y="6577850"/>
            <a:ext cx="4210093" cy="0"/>
          </a:xfrm>
          <a:prstGeom prst="line">
            <a:avLst/>
          </a:prstGeom>
          <a:ln w="9525" cap="rnd">
            <a:solidFill>
              <a:srgbClr val="63DB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2365385" y="4852988"/>
            <a:ext cx="1355722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If you liked this Deck, Please Rate me at Fair Value.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620</Words>
  <Application>Microsoft Office PowerPoint</Application>
  <PresentationFormat>Custom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Maven Pro Bold</vt:lpstr>
      <vt:lpstr>Arial</vt:lpstr>
      <vt:lpstr>Montserrat</vt:lpstr>
      <vt:lpstr>Montserrat Bold</vt:lpstr>
      <vt:lpstr>Maven Pro</vt:lpstr>
      <vt:lpstr>Playfair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Annual Report</dc:title>
  <cp:lastModifiedBy>ANUPAM PAIKADE</cp:lastModifiedBy>
  <cp:revision>3</cp:revision>
  <dcterms:created xsi:type="dcterms:W3CDTF">2006-08-16T00:00:00Z</dcterms:created>
  <dcterms:modified xsi:type="dcterms:W3CDTF">2025-11-07T07:23:08Z</dcterms:modified>
  <dc:identifier>DAG3iSe51BA</dc:identifier>
</cp:coreProperties>
</file>